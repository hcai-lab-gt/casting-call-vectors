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27"/>
  </p:notesMasterIdLst>
  <p:sldIdLst>
    <p:sldId id="274" r:id="rId3"/>
    <p:sldId id="270" r:id="rId4"/>
    <p:sldId id="273" r:id="rId5"/>
    <p:sldId id="276" r:id="rId6"/>
    <p:sldId id="271" r:id="rId7"/>
    <p:sldId id="272" r:id="rId8"/>
    <p:sldId id="275" r:id="rId9"/>
    <p:sldId id="268" r:id="rId10"/>
    <p:sldId id="269" r:id="rId11"/>
    <p:sldId id="257" r:id="rId12"/>
    <p:sldId id="258" r:id="rId13"/>
    <p:sldId id="259" r:id="rId14"/>
    <p:sldId id="260" r:id="rId15"/>
    <p:sldId id="261" r:id="rId16"/>
    <p:sldId id="262" r:id="rId17"/>
    <p:sldId id="277" r:id="rId18"/>
    <p:sldId id="278" r:id="rId19"/>
    <p:sldId id="279" r:id="rId20"/>
    <p:sldId id="280" r:id="rId21"/>
    <p:sldId id="263" r:id="rId22"/>
    <p:sldId id="264" r:id="rId23"/>
    <p:sldId id="265" r:id="rId24"/>
    <p:sldId id="266"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0"/>
    <a:srgbClr val="FFD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03825-B51C-F740-B42D-16481D90CD23}" v="39" dt="2026-03-27T18:19:35.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04"/>
  </p:normalViewPr>
  <p:slideViewPr>
    <p:cSldViewPr snapToGrid="0">
      <p:cViewPr>
        <p:scale>
          <a:sx n="70" d="100"/>
          <a:sy n="70" d="100"/>
        </p:scale>
        <p:origin x="1160"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43C70-3828-2D45-8BB9-8C5A2C24C085}" type="datetimeFigureOut">
              <a:rPr lang="en-US" smtClean="0"/>
              <a:t>3/27/26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3FFF45-F856-5E44-A4A1-A6E0E5FF9F95}" type="slidenum">
              <a:rPr lang="en-US" smtClean="0"/>
              <a:t>‹#›</a:t>
            </a:fld>
            <a:endParaRPr lang="en-US"/>
          </a:p>
        </p:txBody>
      </p:sp>
    </p:spTree>
    <p:extLst>
      <p:ext uri="{BB962C8B-B14F-4D97-AF65-F5344CB8AC3E}">
        <p14:creationId xmlns:p14="http://schemas.microsoft.com/office/powerpoint/2010/main" val="555742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Glenn. I'm working with Sebastian Krier on a project called The Geometry of Personality in Language Models. I'll walk you through what we're doing, why it's designed the way it is, and why it matters for safety. ~15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from prior work that LLMs can reliably adopt personas when prompted, and that this isn't just a surface-level text phenomenon. It actually corresponds to recoverable directions in the model's activation space. But here's what hasn't been asked systematically: is there *structure* to this? When you look at the space of all possible personas, do personality traits organize into something geometrically coherent? ~45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E180-012B-AC06-B867-626D04D139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14DCEC-77B9-9438-A86C-FE35AB7A39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4D8F12-2E19-4687-2B09-5C20B69ED122}"/>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80904A63-96F6-CE07-9E08-956C3EBA85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D934BE-8470-16C7-671B-2BE4D9DC079C}"/>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4285967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CAA9-DB25-E931-D8E7-FB55CAEA93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44F1D0-3BEF-0BD6-5E0B-0AA9252DEB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8DC15-8589-17EE-CE9B-AA07314EE1F3}"/>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B0996881-B695-AA65-B944-FABA816DB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A3834-90A4-E036-7F81-2D76AA1E56FA}"/>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868354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54C8-D61B-6060-4387-BB47B455CF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30D4A7-A153-B74D-BFF8-BC700828A1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8403FB-4D80-414F-8737-1EBD19941174}"/>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25EF1C3F-4776-143D-B138-A026A67B8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6929-0A2E-4248-A68E-18AE69DC1973}"/>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949091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466A-EF06-1E7D-6D96-61DFCA8C94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CFA577-25DF-60DC-8735-3E449DCEB1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36E499-FF5A-001A-3510-7DF68933B3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10C6EB-38DA-0DB9-6648-D6D30E0E24F1}"/>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a:extLst>
              <a:ext uri="{FF2B5EF4-FFF2-40B4-BE49-F238E27FC236}">
                <a16:creationId xmlns:a16="http://schemas.microsoft.com/office/drawing/2014/main" id="{40272D74-D231-92DC-0263-314497C2A1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1C2C4-7350-34B2-351F-AD47F21EAFEB}"/>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280251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8244E-20C9-0A3C-B854-0CEE179201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2245E2-472F-C02F-5FCD-393426C06E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578B2A-86C4-EB3B-54A6-42E760F45E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3FB75-E507-5F37-AD88-B5A1787894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465FF5-7EA8-655D-6DD8-B1735538AA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FA5F48-4145-E337-EBF1-A90AA7B428CB}"/>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8" name="Footer Placeholder 7">
            <a:extLst>
              <a:ext uri="{FF2B5EF4-FFF2-40B4-BE49-F238E27FC236}">
                <a16:creationId xmlns:a16="http://schemas.microsoft.com/office/drawing/2014/main" id="{EC737C0F-F7D1-FFFE-0129-E6A387CEB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3B09DD-D4DF-5CAC-73D7-B6B682CF50EE}"/>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415898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0579C-897E-F9C4-385B-6BE362BDBD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9E6E1F-DE87-3D39-DB08-949A02048D12}"/>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4" name="Footer Placeholder 3">
            <a:extLst>
              <a:ext uri="{FF2B5EF4-FFF2-40B4-BE49-F238E27FC236}">
                <a16:creationId xmlns:a16="http://schemas.microsoft.com/office/drawing/2014/main" id="{90EC8D1B-A465-BA20-4BCB-4CA5ABD44C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4632C2-4EAF-ED09-53DF-B4282EE7B056}"/>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2868604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5BE31A-F07B-D03C-09C5-9DB0F4160418}"/>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3" name="Footer Placeholder 2">
            <a:extLst>
              <a:ext uri="{FF2B5EF4-FFF2-40B4-BE49-F238E27FC236}">
                <a16:creationId xmlns:a16="http://schemas.microsoft.com/office/drawing/2014/main" id="{7708337F-1B6B-861F-AE73-6183B02AEE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87BAC4-2EF9-1AC6-4369-6EEDD1DA4F9C}"/>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545478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FFFB-270F-6E45-6AEB-EA650CB0A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19D4B3-4780-F1A7-4776-7ED73E340D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3042C1-B726-5BBA-B0C0-1183E2B7C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563E54-9BE9-4B03-063E-E9142DDA8343}"/>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a:extLst>
              <a:ext uri="{FF2B5EF4-FFF2-40B4-BE49-F238E27FC236}">
                <a16:creationId xmlns:a16="http://schemas.microsoft.com/office/drawing/2014/main" id="{AFBB379C-654A-D510-2E05-DBC755C3BE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553A4-B2C3-8142-E98D-43E4BAD332FB}"/>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3812912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CC86B-69F9-0B39-7143-2D886256FA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EFCDEC-BC1D-2BCC-2254-078CE3E3B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792DB6-50C3-703A-C7E1-D0B30A1CD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3334E1-3834-97A6-E71F-4DFFF6CD1CA1}"/>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a:extLst>
              <a:ext uri="{FF2B5EF4-FFF2-40B4-BE49-F238E27FC236}">
                <a16:creationId xmlns:a16="http://schemas.microsoft.com/office/drawing/2014/main" id="{EEDE01BE-0DE2-4C9F-BB03-B13233631D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A0804D-8CCF-6C14-2D2E-2F0647AD68FF}"/>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1912271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31BF5-D5BF-7D3B-9166-A9309F4D7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E0EF53-07B9-CA18-AD5D-729C068666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7E415-B482-4350-F9A5-55804B4EF76C}"/>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0AD0FC1B-0B12-026F-10BD-B593F7F4AD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AF44A-D659-D845-23B9-57EAE18EF579}"/>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3719481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7D9C62-4E61-197C-607B-129EE4FB71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8A3C42-4E35-EA5C-60B9-11E842D83E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FF4B4-776D-F0A5-D176-58F3AC0E7CE6}"/>
              </a:ext>
            </a:extLst>
          </p:cNvPr>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F08C1975-D946-BEA4-DB57-E7863C6D1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7666A-4A2F-F5BE-202F-2C47429A2059}"/>
              </a:ext>
            </a:extLst>
          </p:cNvPr>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3949284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4307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381506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2258258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1030561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2962599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8CA330-6393-004F-AA06-9B7D2EC5C1CE}" type="datetimeFigureOut">
              <a:rPr lang="en-US" smtClean="0"/>
              <a:t>3/27/26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1528983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8CA330-6393-004F-AA06-9B7D2EC5C1CE}" type="datetimeFigureOut">
              <a:rPr lang="en-US" smtClean="0"/>
              <a:t>3/27/26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23198973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8CA330-6393-004F-AA06-9B7D2EC5C1CE}" type="datetimeFigureOut">
              <a:rPr lang="en-US" smtClean="0"/>
              <a:t>3/27/26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199248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38269308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8CA330-6393-004F-AA06-9B7D2EC5C1CE}"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663149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423499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8CA330-6393-004F-AA06-9B7D2EC5C1CE}"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9D0C7-C480-E347-8F51-F429DCDAB19F}" type="slidenum">
              <a:rPr lang="en-US" smtClean="0"/>
              <a:t>‹#›</a:t>
            </a:fld>
            <a:endParaRPr lang="en-US"/>
          </a:p>
        </p:txBody>
      </p:sp>
    </p:spTree>
    <p:extLst>
      <p:ext uri="{BB962C8B-B14F-4D97-AF65-F5344CB8AC3E}">
        <p14:creationId xmlns:p14="http://schemas.microsoft.com/office/powerpoint/2010/main" val="14206946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643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85831B-DE90-1F4A-7DFD-7DCEDDFC18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50DAEF-DAD0-1D91-77D6-D2E9E8605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3CE77-C526-6D5A-D319-66C0FF164B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8CA330-6393-004F-AA06-9B7D2EC5C1CE}" type="datetimeFigureOut">
              <a:rPr lang="en-US" smtClean="0"/>
              <a:t>3/27/26</a:t>
            </a:fld>
            <a:endParaRPr lang="en-US"/>
          </a:p>
        </p:txBody>
      </p:sp>
      <p:sp>
        <p:nvSpPr>
          <p:cNvPr id="5" name="Footer Placeholder 4">
            <a:extLst>
              <a:ext uri="{FF2B5EF4-FFF2-40B4-BE49-F238E27FC236}">
                <a16:creationId xmlns:a16="http://schemas.microsoft.com/office/drawing/2014/main" id="{1C22EBCF-E23C-3421-4E5C-B08A88D6B8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C84A4D-A86A-E683-D3A2-B4B8B7124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09D0C7-C480-E347-8F51-F429DCDAB19F}" type="slidenum">
              <a:rPr lang="en-US" smtClean="0"/>
              <a:t>‹#›</a:t>
            </a:fld>
            <a:endParaRPr lang="en-US"/>
          </a:p>
        </p:txBody>
      </p:sp>
    </p:spTree>
    <p:extLst>
      <p:ext uri="{BB962C8B-B14F-4D97-AF65-F5344CB8AC3E}">
        <p14:creationId xmlns:p14="http://schemas.microsoft.com/office/powerpoint/2010/main" val="2487613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988CA330-6393-004F-AA06-9B7D2EC5C1CE}" type="datetimeFigureOut">
              <a:rPr lang="en-US" smtClean="0"/>
              <a:t>3/27/26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A09D0C7-C480-E347-8F51-F429DCDAB19F}" type="slidenum">
              <a:rPr lang="en-US" smtClean="0"/>
              <a:t>‹#›</a:t>
            </a:fld>
            <a:endParaRPr lang="en-US"/>
          </a:p>
        </p:txBody>
      </p:sp>
    </p:spTree>
    <p:extLst>
      <p:ext uri="{BB962C8B-B14F-4D97-AF65-F5344CB8AC3E}">
        <p14:creationId xmlns:p14="http://schemas.microsoft.com/office/powerpoint/2010/main" val="103902997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077B6"/>
          </a:solidFill>
          <a:ln/>
        </p:spPr>
        <p:txBody>
          <a:bodyPr/>
          <a:lstStyle/>
          <a:p>
            <a:endParaRPr lang="en-US" sz="2400"/>
          </a:p>
        </p:txBody>
      </p:sp>
      <p:sp>
        <p:nvSpPr>
          <p:cNvPr id="3" name="Text 1"/>
          <p:cNvSpPr/>
          <p:nvPr/>
        </p:nvSpPr>
        <p:spPr>
          <a:xfrm>
            <a:off x="975360" y="1219200"/>
            <a:ext cx="10241280" cy="2194560"/>
          </a:xfrm>
          <a:prstGeom prst="rect">
            <a:avLst/>
          </a:prstGeom>
          <a:noFill/>
          <a:ln/>
        </p:spPr>
        <p:txBody>
          <a:bodyPr wrap="square" rtlCol="0" anchor="t"/>
          <a:lstStyle/>
          <a:p>
            <a:pPr>
              <a:lnSpc>
                <a:spcPct val="115000"/>
              </a:lnSpc>
            </a:pPr>
            <a:r>
              <a:rPr lang="en-US" sz="4800" dirty="0"/>
              <a:t>Fantastic Personas</a:t>
            </a:r>
            <a:br>
              <a:rPr lang="en-US" sz="4800" dirty="0"/>
            </a:br>
            <a:r>
              <a:rPr lang="en-US" sz="4800" dirty="0"/>
              <a:t>and Where to Find Them</a:t>
            </a:r>
          </a:p>
        </p:txBody>
      </p:sp>
      <p:sp>
        <p:nvSpPr>
          <p:cNvPr id="4" name="Text 2"/>
          <p:cNvSpPr/>
          <p:nvPr/>
        </p:nvSpPr>
        <p:spPr>
          <a:xfrm>
            <a:off x="975360" y="3535680"/>
            <a:ext cx="10241280" cy="609600"/>
          </a:xfrm>
          <a:prstGeom prst="rect">
            <a:avLst/>
          </a:prstGeom>
          <a:noFill/>
          <a:ln/>
        </p:spPr>
        <p:txBody>
          <a:bodyPr wrap="square" rtlCol="0" anchor="ctr"/>
          <a:lstStyle/>
          <a:p>
            <a:r>
              <a:rPr lang="en-US" sz="2400" i="1" dirty="0">
                <a:solidFill>
                  <a:srgbClr val="0077B6"/>
                </a:solidFill>
                <a:latin typeface="Calibri" pitchFamily="34" charset="0"/>
                <a:cs typeface="Calibri" pitchFamily="34" charset="-120"/>
              </a:rPr>
              <a:t>Mapping the Geometry of Role Vectors in Activation Space</a:t>
            </a:r>
          </a:p>
        </p:txBody>
      </p:sp>
      <p:sp>
        <p:nvSpPr>
          <p:cNvPr id="5" name="Shape 3"/>
          <p:cNvSpPr/>
          <p:nvPr/>
        </p:nvSpPr>
        <p:spPr>
          <a:xfrm>
            <a:off x="975360" y="4389120"/>
            <a:ext cx="3048000" cy="36576"/>
          </a:xfrm>
          <a:prstGeom prst="rect">
            <a:avLst/>
          </a:prstGeom>
          <a:solidFill>
            <a:srgbClr val="0077B6"/>
          </a:solidFill>
          <a:ln/>
        </p:spPr>
        <p:txBody>
          <a:bodyPr/>
          <a:lstStyle/>
          <a:p>
            <a:endParaRPr lang="en-US" sz="2400"/>
          </a:p>
        </p:txBody>
      </p:sp>
      <p:sp>
        <p:nvSpPr>
          <p:cNvPr id="6" name="Text 4"/>
          <p:cNvSpPr/>
          <p:nvPr/>
        </p:nvSpPr>
        <p:spPr>
          <a:xfrm>
            <a:off x="975360" y="4693920"/>
            <a:ext cx="10241280" cy="487680"/>
          </a:xfrm>
          <a:prstGeom prst="rect">
            <a:avLst/>
          </a:prstGeom>
          <a:noFill/>
          <a:ln/>
        </p:spPr>
        <p:txBody>
          <a:bodyPr wrap="square" rtlCol="0" anchor="ctr"/>
          <a:lstStyle/>
          <a:p>
            <a:r>
              <a:rPr lang="en-US" sz="1867" dirty="0">
                <a:solidFill>
                  <a:srgbClr val="9CA3AF"/>
                </a:solidFill>
                <a:latin typeface="Calibri" pitchFamily="34" charset="0"/>
                <a:ea typeface="Calibri" pitchFamily="34" charset="-122"/>
                <a:cs typeface="Calibri" pitchFamily="34" charset="-120"/>
              </a:rPr>
              <a:t>MATS 9.0 Fellowship  |  Winter 2026 Cohort</a:t>
            </a:r>
            <a:endParaRPr lang="en-US" sz="1867" dirty="0"/>
          </a:p>
        </p:txBody>
      </p:sp>
      <p:sp>
        <p:nvSpPr>
          <p:cNvPr id="7" name="Shape 5"/>
          <p:cNvSpPr/>
          <p:nvPr/>
        </p:nvSpPr>
        <p:spPr>
          <a:xfrm flipV="1">
            <a:off x="9144001" y="3185291"/>
            <a:ext cx="1786393" cy="1447668"/>
          </a:xfrm>
          <a:prstGeom prst="line">
            <a:avLst/>
          </a:prstGeom>
          <a:noFill/>
          <a:ln w="31750">
            <a:solidFill>
              <a:srgbClr val="0077B6"/>
            </a:solidFill>
            <a:prstDash val="solid"/>
          </a:ln>
        </p:spPr>
        <p:txBody>
          <a:bodyPr/>
          <a:lstStyle/>
          <a:p>
            <a:endParaRPr lang="en-US" sz="2400"/>
          </a:p>
        </p:txBody>
      </p:sp>
      <p:sp>
        <p:nvSpPr>
          <p:cNvPr id="8" name="Shape 6"/>
          <p:cNvSpPr/>
          <p:nvPr/>
        </p:nvSpPr>
        <p:spPr>
          <a:xfrm flipV="1">
            <a:off x="9144000" y="4267200"/>
            <a:ext cx="2072640" cy="365760"/>
          </a:xfrm>
          <a:prstGeom prst="line">
            <a:avLst/>
          </a:prstGeom>
          <a:noFill/>
          <a:ln w="31750">
            <a:solidFill>
              <a:srgbClr val="E63946"/>
            </a:solidFill>
            <a:prstDash val="solid"/>
          </a:ln>
        </p:spPr>
        <p:txBody>
          <a:bodyPr/>
          <a:lstStyle/>
          <a:p>
            <a:endParaRPr lang="en-US" sz="2400"/>
          </a:p>
        </p:txBody>
      </p:sp>
      <p:sp>
        <p:nvSpPr>
          <p:cNvPr id="9" name="Shape 7"/>
          <p:cNvSpPr/>
          <p:nvPr/>
        </p:nvSpPr>
        <p:spPr>
          <a:xfrm flipV="1">
            <a:off x="9144001" y="2687011"/>
            <a:ext cx="683812" cy="1945949"/>
          </a:xfrm>
          <a:prstGeom prst="line">
            <a:avLst/>
          </a:prstGeom>
          <a:noFill/>
          <a:ln w="31750">
            <a:solidFill>
              <a:srgbClr val="F4A261"/>
            </a:solidFill>
            <a:prstDash val="solid"/>
          </a:ln>
        </p:spPr>
        <p:txBody>
          <a:bodyPr/>
          <a:lstStyle/>
          <a:p>
            <a:endParaRPr lang="en-US" sz="2400"/>
          </a:p>
        </p:txBody>
      </p:sp>
      <p:sp>
        <p:nvSpPr>
          <p:cNvPr id="10" name="Shape 8"/>
          <p:cNvSpPr/>
          <p:nvPr/>
        </p:nvSpPr>
        <p:spPr>
          <a:xfrm>
            <a:off x="8961120" y="4450080"/>
            <a:ext cx="365760" cy="365760"/>
          </a:xfrm>
          <a:prstGeom prst="ellipse">
            <a:avLst/>
          </a:prstGeom>
          <a:solidFill>
            <a:srgbClr val="FFFFFF"/>
          </a:solidFill>
          <a:ln/>
        </p:spPr>
        <p:txBody>
          <a:bodyPr/>
          <a:lstStyle/>
          <a:p>
            <a:endParaRPr lang="en-US" sz="2400"/>
          </a:p>
        </p:txBody>
      </p:sp>
      <p:sp>
        <p:nvSpPr>
          <p:cNvPr id="11" name="Shape 9"/>
          <p:cNvSpPr/>
          <p:nvPr/>
        </p:nvSpPr>
        <p:spPr>
          <a:xfrm>
            <a:off x="10850880" y="3048000"/>
            <a:ext cx="182880" cy="182880"/>
          </a:xfrm>
          <a:prstGeom prst="ellipse">
            <a:avLst/>
          </a:prstGeom>
          <a:solidFill>
            <a:srgbClr val="0077B6"/>
          </a:solidFill>
          <a:ln/>
        </p:spPr>
        <p:txBody>
          <a:bodyPr/>
          <a:lstStyle/>
          <a:p>
            <a:endParaRPr lang="en-US" sz="2400"/>
          </a:p>
        </p:txBody>
      </p:sp>
      <p:sp>
        <p:nvSpPr>
          <p:cNvPr id="12" name="Shape 10"/>
          <p:cNvSpPr/>
          <p:nvPr/>
        </p:nvSpPr>
        <p:spPr>
          <a:xfrm>
            <a:off x="11216640" y="4145280"/>
            <a:ext cx="182880" cy="182880"/>
          </a:xfrm>
          <a:prstGeom prst="ellipse">
            <a:avLst/>
          </a:prstGeom>
          <a:solidFill>
            <a:srgbClr val="E63946"/>
          </a:solidFill>
          <a:ln/>
        </p:spPr>
        <p:txBody>
          <a:bodyPr/>
          <a:lstStyle/>
          <a:p>
            <a:endParaRPr lang="en-US" sz="2400"/>
          </a:p>
        </p:txBody>
      </p:sp>
      <p:sp>
        <p:nvSpPr>
          <p:cNvPr id="13" name="Shape 11"/>
          <p:cNvSpPr/>
          <p:nvPr/>
        </p:nvSpPr>
        <p:spPr>
          <a:xfrm>
            <a:off x="9753600" y="2560320"/>
            <a:ext cx="182880" cy="182880"/>
          </a:xfrm>
          <a:prstGeom prst="ellipse">
            <a:avLst/>
          </a:prstGeom>
          <a:solidFill>
            <a:srgbClr val="F4A261"/>
          </a:solidFill>
          <a:ln/>
        </p:spPr>
        <p:txBody>
          <a:bodyPr/>
          <a:lstStyle/>
          <a:p>
            <a:endParaRPr 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239092-CB2B-D30A-1796-48C1BF95F821}"/>
              </a:ext>
            </a:extLst>
          </p:cNvPr>
          <p:cNvSpPr>
            <a:spLocks noGrp="1"/>
          </p:cNvSpPr>
          <p:nvPr>
            <p:ph type="title"/>
          </p:nvPr>
        </p:nvSpPr>
        <p:spPr/>
        <p:txBody>
          <a:bodyPr>
            <a:noAutofit/>
          </a:bodyPr>
          <a:lstStyle/>
          <a:p>
            <a:pPr algn="ctr"/>
            <a:r>
              <a:rPr lang="en-US" sz="3200" b="1" u="sng" dirty="0"/>
              <a:t>Title:</a:t>
            </a:r>
            <a:r>
              <a:rPr lang="en-US" sz="3200" dirty="0"/>
              <a:t> Fantastic Personas and Where to Find Them: Mapping the Geometry of Role Vectors in Activation Space </a:t>
            </a:r>
          </a:p>
        </p:txBody>
      </p:sp>
      <p:sp>
        <p:nvSpPr>
          <p:cNvPr id="5" name="Content Placeholder 4">
            <a:extLst>
              <a:ext uri="{FF2B5EF4-FFF2-40B4-BE49-F238E27FC236}">
                <a16:creationId xmlns:a16="http://schemas.microsoft.com/office/drawing/2014/main" id="{9A662736-E671-F6EE-641F-842877B451A7}"/>
              </a:ext>
            </a:extLst>
          </p:cNvPr>
          <p:cNvSpPr>
            <a:spLocks noGrp="1"/>
          </p:cNvSpPr>
          <p:nvPr>
            <p:ph idx="1"/>
          </p:nvPr>
        </p:nvSpPr>
        <p:spPr/>
        <p:txBody>
          <a:bodyPr>
            <a:normAutofit fontScale="92500" lnSpcReduction="10000"/>
          </a:bodyPr>
          <a:lstStyle/>
          <a:p>
            <a:pPr marL="0" indent="0" algn="just">
              <a:lnSpc>
                <a:spcPct val="134000"/>
              </a:lnSpc>
              <a:buNone/>
            </a:pPr>
            <a:r>
              <a:rPr lang="en-US" sz="1800" b="1" u="sng" dirty="0"/>
              <a:t>Abstract:</a:t>
            </a:r>
            <a:r>
              <a:rPr lang="en-US" sz="1800" b="1" dirty="0"/>
              <a:t> </a:t>
            </a:r>
            <a:r>
              <a:rPr lang="en-US" sz="1800" dirty="0"/>
              <a:t>We present a methodology for extracting and steering role vectors in large language model activation space, and investigate the geometric structure of the resulting persona representations. Using a curated elicitation battery grounded in psychological profiles, role-specific tasks, and cognitive biases, we extract vectors for 275 diverse roles via contrastive activation differences between judge-filtered positive and baseline responses. We benchmark additive activation steering against prompt-engineered baselines and prior role-vector methods, evaluating role adherence across diverse settings. Analyzing the geometry of the resulting role space, we find that our extraction method yields vectors with greater variance and more semantically coherent clustering than prior approaches, and we characterize the principal axes in terms of interpretable personality dimensions. We further demonstrate that linear combinations of role vectors produce coherent role compositions --- suggesting algebraic structure analogous to that observed in word embedding spaces --- and validate these representations against both </a:t>
            </a:r>
            <a:r>
              <a:rPr lang="en-US" sz="1800" dirty="0" err="1"/>
              <a:t>behavorial</a:t>
            </a:r>
            <a:r>
              <a:rPr lang="en-US" sz="1800" dirty="0"/>
              <a:t> instruments and LLM-perceived persona similarity. Our findings offer a foundation for interpretable, activation-level persona control with applications to behavioral monitoring and safe deployment. </a:t>
            </a:r>
          </a:p>
        </p:txBody>
      </p:sp>
    </p:spTree>
    <p:extLst>
      <p:ext uri="{BB962C8B-B14F-4D97-AF65-F5344CB8AC3E}">
        <p14:creationId xmlns:p14="http://schemas.microsoft.com/office/powerpoint/2010/main" val="3395738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75360" y="487680"/>
            <a:ext cx="10241280" cy="731520"/>
          </a:xfrm>
          <a:prstGeom prst="rect">
            <a:avLst/>
          </a:prstGeom>
          <a:noFill/>
          <a:ln/>
        </p:spPr>
        <p:txBody>
          <a:bodyPr wrap="square" lIns="0" tIns="0" rIns="0" bIns="0" rtlCol="0" anchor="ctr"/>
          <a:lstStyle/>
          <a:p>
            <a:r>
              <a:rPr lang="en-US" sz="3733" b="1" dirty="0">
                <a:solidFill>
                  <a:srgbClr val="0B1F3F"/>
                </a:solidFill>
                <a:latin typeface="Georgia" pitchFamily="34" charset="0"/>
                <a:ea typeface="Georgia" pitchFamily="34" charset="-122"/>
                <a:cs typeface="Georgia" pitchFamily="34" charset="-120"/>
              </a:rPr>
              <a:t>LLMs Adopt Personas. But Is There Structure?</a:t>
            </a:r>
            <a:endParaRPr lang="en-US" sz="3733" dirty="0"/>
          </a:p>
        </p:txBody>
      </p:sp>
      <p:sp>
        <p:nvSpPr>
          <p:cNvPr id="3" name="Shape 1"/>
          <p:cNvSpPr/>
          <p:nvPr/>
        </p:nvSpPr>
        <p:spPr>
          <a:xfrm>
            <a:off x="975360" y="1584960"/>
            <a:ext cx="4632960" cy="4267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sz="2400"/>
          </a:p>
        </p:txBody>
      </p:sp>
      <p:sp>
        <p:nvSpPr>
          <p:cNvPr id="4" name="Shape 2"/>
          <p:cNvSpPr/>
          <p:nvPr/>
        </p:nvSpPr>
        <p:spPr>
          <a:xfrm>
            <a:off x="975360" y="1584960"/>
            <a:ext cx="4632960" cy="73152"/>
          </a:xfrm>
          <a:prstGeom prst="rect">
            <a:avLst/>
          </a:prstGeom>
          <a:solidFill>
            <a:srgbClr val="0077B6"/>
          </a:solidFill>
          <a:ln/>
        </p:spPr>
        <p:txBody>
          <a:bodyPr/>
          <a:lstStyle/>
          <a:p>
            <a:endParaRPr lang="en-US" sz="2400"/>
          </a:p>
        </p:txBody>
      </p:sp>
      <p:sp>
        <p:nvSpPr>
          <p:cNvPr id="5" name="Text 3"/>
          <p:cNvSpPr/>
          <p:nvPr/>
        </p:nvSpPr>
        <p:spPr>
          <a:xfrm>
            <a:off x="1219200" y="1889760"/>
            <a:ext cx="4145280" cy="426720"/>
          </a:xfrm>
          <a:prstGeom prst="rect">
            <a:avLst/>
          </a:prstGeom>
          <a:noFill/>
          <a:ln/>
        </p:spPr>
        <p:txBody>
          <a:bodyPr wrap="square" lIns="0" tIns="0" rIns="0" bIns="0" rtlCol="0" anchor="ctr"/>
          <a:lstStyle/>
          <a:p>
            <a:r>
              <a:rPr lang="en-US" sz="1867" b="1" dirty="0">
                <a:solidFill>
                  <a:srgbClr val="0077B6"/>
                </a:solidFill>
                <a:latin typeface="Calibri" pitchFamily="34" charset="0"/>
                <a:ea typeface="Calibri" pitchFamily="34" charset="-122"/>
                <a:cs typeface="Calibri" pitchFamily="34" charset="-120"/>
              </a:rPr>
              <a:t>Persona Prompting Works</a:t>
            </a:r>
            <a:endParaRPr lang="en-US" sz="1867" dirty="0"/>
          </a:p>
        </p:txBody>
      </p:sp>
      <p:sp>
        <p:nvSpPr>
          <p:cNvPr id="6" name="Shape 4"/>
          <p:cNvSpPr/>
          <p:nvPr/>
        </p:nvSpPr>
        <p:spPr>
          <a:xfrm>
            <a:off x="1341120" y="2560320"/>
            <a:ext cx="4023360" cy="609600"/>
          </a:xfrm>
          <a:prstGeom prst="rect">
            <a:avLst/>
          </a:prstGeom>
          <a:solidFill>
            <a:srgbClr val="E63946">
              <a:alpha val="10000"/>
            </a:srgbClr>
          </a:solidFill>
          <a:ln/>
        </p:spPr>
        <p:txBody>
          <a:bodyPr/>
          <a:lstStyle/>
          <a:p>
            <a:endParaRPr lang="en-US" sz="2400"/>
          </a:p>
        </p:txBody>
      </p:sp>
      <p:sp>
        <p:nvSpPr>
          <p:cNvPr id="7" name="Shape 5"/>
          <p:cNvSpPr/>
          <p:nvPr/>
        </p:nvSpPr>
        <p:spPr>
          <a:xfrm>
            <a:off x="1341120" y="2560320"/>
            <a:ext cx="73152" cy="609600"/>
          </a:xfrm>
          <a:prstGeom prst="rect">
            <a:avLst/>
          </a:prstGeom>
          <a:solidFill>
            <a:srgbClr val="E63946"/>
          </a:solidFill>
          <a:ln/>
        </p:spPr>
        <p:txBody>
          <a:bodyPr/>
          <a:lstStyle/>
          <a:p>
            <a:endParaRPr lang="en-US" sz="2400"/>
          </a:p>
        </p:txBody>
      </p:sp>
      <p:sp>
        <p:nvSpPr>
          <p:cNvPr id="8" name="Text 6"/>
          <p:cNvSpPr/>
          <p:nvPr/>
        </p:nvSpPr>
        <p:spPr>
          <a:xfrm>
            <a:off x="1584960" y="2560320"/>
            <a:ext cx="3657600" cy="609600"/>
          </a:xfrm>
          <a:prstGeom prst="rect">
            <a:avLst/>
          </a:prstGeom>
          <a:noFill/>
          <a:ln/>
        </p:spPr>
        <p:txBody>
          <a:bodyPr wrap="square" lIns="0" tIns="0" rIns="0" bIns="0" rtlCol="0" anchor="ctr"/>
          <a:lstStyle/>
          <a:p>
            <a:r>
              <a:rPr lang="en-US" sz="1600" i="1" dirty="0">
                <a:solidFill>
                  <a:srgbClr val="1D2939"/>
                </a:solidFill>
                <a:latin typeface="Calibri" pitchFamily="34" charset="0"/>
                <a:ea typeface="Calibri" pitchFamily="34" charset="-122"/>
                <a:cs typeface="Calibri" pitchFamily="34" charset="-120"/>
              </a:rPr>
              <a:t>"Respond as a firefighter"</a:t>
            </a:r>
            <a:endParaRPr lang="en-US" sz="1600" dirty="0"/>
          </a:p>
        </p:txBody>
      </p:sp>
      <p:sp>
        <p:nvSpPr>
          <p:cNvPr id="9" name="Shape 7"/>
          <p:cNvSpPr/>
          <p:nvPr/>
        </p:nvSpPr>
        <p:spPr>
          <a:xfrm>
            <a:off x="1341120" y="3413760"/>
            <a:ext cx="4023360" cy="609600"/>
          </a:xfrm>
          <a:prstGeom prst="rect">
            <a:avLst/>
          </a:prstGeom>
          <a:solidFill>
            <a:srgbClr val="0077B6">
              <a:alpha val="10000"/>
            </a:srgbClr>
          </a:solidFill>
          <a:ln/>
        </p:spPr>
        <p:txBody>
          <a:bodyPr/>
          <a:lstStyle/>
          <a:p>
            <a:endParaRPr lang="en-US" sz="2400"/>
          </a:p>
        </p:txBody>
      </p:sp>
      <p:sp>
        <p:nvSpPr>
          <p:cNvPr id="10" name="Shape 8"/>
          <p:cNvSpPr/>
          <p:nvPr/>
        </p:nvSpPr>
        <p:spPr>
          <a:xfrm>
            <a:off x="1341120" y="3413760"/>
            <a:ext cx="73152" cy="609600"/>
          </a:xfrm>
          <a:prstGeom prst="rect">
            <a:avLst/>
          </a:prstGeom>
          <a:solidFill>
            <a:srgbClr val="0077B6"/>
          </a:solidFill>
          <a:ln/>
        </p:spPr>
        <p:txBody>
          <a:bodyPr/>
          <a:lstStyle/>
          <a:p>
            <a:endParaRPr lang="en-US" sz="2400"/>
          </a:p>
        </p:txBody>
      </p:sp>
      <p:sp>
        <p:nvSpPr>
          <p:cNvPr id="11" name="Text 9"/>
          <p:cNvSpPr/>
          <p:nvPr/>
        </p:nvSpPr>
        <p:spPr>
          <a:xfrm>
            <a:off x="1584960" y="3413760"/>
            <a:ext cx="3657600" cy="609600"/>
          </a:xfrm>
          <a:prstGeom prst="rect">
            <a:avLst/>
          </a:prstGeom>
          <a:noFill/>
          <a:ln/>
        </p:spPr>
        <p:txBody>
          <a:bodyPr wrap="square" lIns="0" tIns="0" rIns="0" bIns="0" rtlCol="0" anchor="ctr"/>
          <a:lstStyle/>
          <a:p>
            <a:r>
              <a:rPr lang="en-US" sz="1600" i="1" dirty="0">
                <a:solidFill>
                  <a:srgbClr val="1D2939"/>
                </a:solidFill>
                <a:latin typeface="Calibri" pitchFamily="34" charset="0"/>
                <a:ea typeface="Calibri" pitchFamily="34" charset="-122"/>
                <a:cs typeface="Calibri" pitchFamily="34" charset="-120"/>
              </a:rPr>
              <a:t>"Respond as a therapist"</a:t>
            </a:r>
            <a:endParaRPr lang="en-US" sz="1600" dirty="0"/>
          </a:p>
        </p:txBody>
      </p:sp>
      <p:sp>
        <p:nvSpPr>
          <p:cNvPr id="12" name="Shape 10"/>
          <p:cNvSpPr/>
          <p:nvPr/>
        </p:nvSpPr>
        <p:spPr>
          <a:xfrm>
            <a:off x="1341120" y="4267200"/>
            <a:ext cx="4023360" cy="609600"/>
          </a:xfrm>
          <a:prstGeom prst="rect">
            <a:avLst/>
          </a:prstGeom>
          <a:solidFill>
            <a:srgbClr val="F4A261">
              <a:alpha val="10000"/>
            </a:srgbClr>
          </a:solidFill>
          <a:ln/>
        </p:spPr>
        <p:txBody>
          <a:bodyPr/>
          <a:lstStyle/>
          <a:p>
            <a:endParaRPr lang="en-US" sz="2400"/>
          </a:p>
        </p:txBody>
      </p:sp>
      <p:sp>
        <p:nvSpPr>
          <p:cNvPr id="13" name="Shape 11"/>
          <p:cNvSpPr/>
          <p:nvPr/>
        </p:nvSpPr>
        <p:spPr>
          <a:xfrm>
            <a:off x="1341120" y="4267200"/>
            <a:ext cx="73152" cy="609600"/>
          </a:xfrm>
          <a:prstGeom prst="rect">
            <a:avLst/>
          </a:prstGeom>
          <a:solidFill>
            <a:srgbClr val="F4A261"/>
          </a:solidFill>
          <a:ln/>
        </p:spPr>
        <p:txBody>
          <a:bodyPr/>
          <a:lstStyle/>
          <a:p>
            <a:endParaRPr lang="en-US" sz="2400"/>
          </a:p>
        </p:txBody>
      </p:sp>
      <p:sp>
        <p:nvSpPr>
          <p:cNvPr id="14" name="Text 12"/>
          <p:cNvSpPr/>
          <p:nvPr/>
        </p:nvSpPr>
        <p:spPr>
          <a:xfrm>
            <a:off x="1584960" y="4267200"/>
            <a:ext cx="3657600" cy="609600"/>
          </a:xfrm>
          <a:prstGeom prst="rect">
            <a:avLst/>
          </a:prstGeom>
          <a:noFill/>
          <a:ln/>
        </p:spPr>
        <p:txBody>
          <a:bodyPr wrap="square" lIns="0" tIns="0" rIns="0" bIns="0" rtlCol="0" anchor="ctr"/>
          <a:lstStyle/>
          <a:p>
            <a:r>
              <a:rPr lang="en-US" sz="1600" i="1" dirty="0">
                <a:solidFill>
                  <a:srgbClr val="1D2939"/>
                </a:solidFill>
                <a:latin typeface="Calibri" pitchFamily="34" charset="0"/>
                <a:ea typeface="Calibri" pitchFamily="34" charset="-122"/>
                <a:cs typeface="Calibri" pitchFamily="34" charset="-120"/>
              </a:rPr>
              <a:t>"Respond as an engineer"</a:t>
            </a:r>
            <a:endParaRPr lang="en-US" sz="1600" dirty="0"/>
          </a:p>
        </p:txBody>
      </p:sp>
      <p:sp>
        <p:nvSpPr>
          <p:cNvPr id="15" name="Text 13"/>
          <p:cNvSpPr/>
          <p:nvPr/>
        </p:nvSpPr>
        <p:spPr>
          <a:xfrm>
            <a:off x="1219200" y="5120640"/>
            <a:ext cx="4145280" cy="365760"/>
          </a:xfrm>
          <a:prstGeom prst="rect">
            <a:avLst/>
          </a:prstGeom>
          <a:noFill/>
          <a:ln/>
        </p:spPr>
        <p:txBody>
          <a:bodyPr wrap="square" lIns="0" tIns="0" rIns="0" bIns="0" rtlCol="0" anchor="ctr"/>
          <a:lstStyle/>
          <a:p>
            <a:r>
              <a:rPr lang="en-US" sz="1333" dirty="0">
                <a:solidFill>
                  <a:srgbClr val="9CA3AF"/>
                </a:solidFill>
                <a:latin typeface="Calibri" pitchFamily="34" charset="0"/>
                <a:ea typeface="Calibri" pitchFamily="34" charset="-122"/>
                <a:cs typeface="Calibri" pitchFamily="34" charset="-120"/>
              </a:rPr>
              <a:t>Chen et al., 2025; Lu et al., 2026</a:t>
            </a:r>
            <a:endParaRPr lang="en-US" sz="1333" dirty="0"/>
          </a:p>
        </p:txBody>
      </p:sp>
      <p:pic>
        <p:nvPicPr>
          <p:cNvPr id="16" name="Image 0" descr="preencoded.png"/>
          <p:cNvPicPr>
            <a:picLocks noChangeAspect="1"/>
          </p:cNvPicPr>
          <p:nvPr/>
        </p:nvPicPr>
        <p:blipFill>
          <a:blip r:embed="rId3"/>
          <a:stretch>
            <a:fillRect/>
          </a:stretch>
        </p:blipFill>
        <p:spPr>
          <a:xfrm>
            <a:off x="5791200" y="3352800"/>
            <a:ext cx="487680" cy="487680"/>
          </a:xfrm>
          <a:prstGeom prst="rect">
            <a:avLst/>
          </a:prstGeom>
        </p:spPr>
      </p:pic>
      <p:sp>
        <p:nvSpPr>
          <p:cNvPr id="17" name="Shape 14"/>
          <p:cNvSpPr/>
          <p:nvPr/>
        </p:nvSpPr>
        <p:spPr>
          <a:xfrm>
            <a:off x="5669280" y="3230880"/>
            <a:ext cx="731520" cy="731520"/>
          </a:xfrm>
          <a:prstGeom prst="ellipse">
            <a:avLst/>
          </a:prstGeom>
          <a:solidFill>
            <a:srgbClr val="0077B6"/>
          </a:solidFill>
          <a:ln/>
        </p:spPr>
        <p:txBody>
          <a:bodyPr/>
          <a:lstStyle/>
          <a:p>
            <a:endParaRPr lang="en-US" sz="2400"/>
          </a:p>
        </p:txBody>
      </p:sp>
      <p:pic>
        <p:nvPicPr>
          <p:cNvPr id="18" name="Image 1" descr="preencoded.png"/>
          <p:cNvPicPr>
            <a:picLocks noChangeAspect="1"/>
          </p:cNvPicPr>
          <p:nvPr/>
        </p:nvPicPr>
        <p:blipFill>
          <a:blip r:embed="rId3"/>
          <a:stretch>
            <a:fillRect/>
          </a:stretch>
        </p:blipFill>
        <p:spPr>
          <a:xfrm>
            <a:off x="5791200" y="3352800"/>
            <a:ext cx="487680" cy="487680"/>
          </a:xfrm>
          <a:prstGeom prst="rect">
            <a:avLst/>
          </a:prstGeom>
        </p:spPr>
      </p:pic>
      <p:sp>
        <p:nvSpPr>
          <p:cNvPr id="19" name="Shape 15"/>
          <p:cNvSpPr/>
          <p:nvPr/>
        </p:nvSpPr>
        <p:spPr>
          <a:xfrm>
            <a:off x="6583680" y="1584960"/>
            <a:ext cx="4632960" cy="4267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sz="2400"/>
          </a:p>
        </p:txBody>
      </p:sp>
      <p:sp>
        <p:nvSpPr>
          <p:cNvPr id="20" name="Shape 16"/>
          <p:cNvSpPr/>
          <p:nvPr/>
        </p:nvSpPr>
        <p:spPr>
          <a:xfrm>
            <a:off x="6583680" y="1584960"/>
            <a:ext cx="4632960" cy="73152"/>
          </a:xfrm>
          <a:prstGeom prst="rect">
            <a:avLst/>
          </a:prstGeom>
          <a:solidFill>
            <a:srgbClr val="E63946"/>
          </a:solidFill>
          <a:ln/>
        </p:spPr>
        <p:txBody>
          <a:bodyPr/>
          <a:lstStyle/>
          <a:p>
            <a:endParaRPr lang="en-US" sz="2400"/>
          </a:p>
        </p:txBody>
      </p:sp>
      <p:sp>
        <p:nvSpPr>
          <p:cNvPr id="21" name="Text 17"/>
          <p:cNvSpPr/>
          <p:nvPr/>
        </p:nvSpPr>
        <p:spPr>
          <a:xfrm>
            <a:off x="6827520" y="1889760"/>
            <a:ext cx="4145280" cy="426720"/>
          </a:xfrm>
          <a:prstGeom prst="rect">
            <a:avLst/>
          </a:prstGeom>
          <a:noFill/>
          <a:ln/>
        </p:spPr>
        <p:txBody>
          <a:bodyPr wrap="square" lIns="0" tIns="0" rIns="0" bIns="0" rtlCol="0" anchor="ctr"/>
          <a:lstStyle/>
          <a:p>
            <a:r>
              <a:rPr lang="en-US" sz="1867" b="1" dirty="0">
                <a:solidFill>
                  <a:srgbClr val="E63946"/>
                </a:solidFill>
                <a:latin typeface="Calibri" pitchFamily="34" charset="0"/>
                <a:ea typeface="Calibri" pitchFamily="34" charset="-122"/>
                <a:cs typeface="Calibri" pitchFamily="34" charset="-120"/>
              </a:rPr>
              <a:t>What Does This Look Like Inside?</a:t>
            </a:r>
            <a:endParaRPr lang="en-US" sz="1867" dirty="0"/>
          </a:p>
        </p:txBody>
      </p:sp>
      <p:sp>
        <p:nvSpPr>
          <p:cNvPr id="22" name="Shape 18"/>
          <p:cNvSpPr/>
          <p:nvPr/>
        </p:nvSpPr>
        <p:spPr>
          <a:xfrm>
            <a:off x="7559040" y="2804160"/>
            <a:ext cx="146304" cy="146304"/>
          </a:xfrm>
          <a:prstGeom prst="ellipse">
            <a:avLst/>
          </a:prstGeom>
          <a:solidFill>
            <a:srgbClr val="E63946">
              <a:alpha val="70000"/>
            </a:srgbClr>
          </a:solidFill>
          <a:ln/>
        </p:spPr>
        <p:txBody>
          <a:bodyPr/>
          <a:lstStyle/>
          <a:p>
            <a:endParaRPr lang="en-US" sz="2400"/>
          </a:p>
        </p:txBody>
      </p:sp>
      <p:sp>
        <p:nvSpPr>
          <p:cNvPr id="23" name="Shape 19"/>
          <p:cNvSpPr/>
          <p:nvPr/>
        </p:nvSpPr>
        <p:spPr>
          <a:xfrm>
            <a:off x="8290560" y="2560320"/>
            <a:ext cx="146304" cy="146304"/>
          </a:xfrm>
          <a:prstGeom prst="ellipse">
            <a:avLst/>
          </a:prstGeom>
          <a:solidFill>
            <a:srgbClr val="0077B6">
              <a:alpha val="70000"/>
            </a:srgbClr>
          </a:solidFill>
          <a:ln/>
        </p:spPr>
        <p:txBody>
          <a:bodyPr/>
          <a:lstStyle/>
          <a:p>
            <a:endParaRPr lang="en-US" sz="2400"/>
          </a:p>
        </p:txBody>
      </p:sp>
      <p:sp>
        <p:nvSpPr>
          <p:cNvPr id="24" name="Shape 20"/>
          <p:cNvSpPr/>
          <p:nvPr/>
        </p:nvSpPr>
        <p:spPr>
          <a:xfrm>
            <a:off x="9022080" y="3048000"/>
            <a:ext cx="146304" cy="146304"/>
          </a:xfrm>
          <a:prstGeom prst="ellipse">
            <a:avLst/>
          </a:prstGeom>
          <a:solidFill>
            <a:srgbClr val="F4A261">
              <a:alpha val="70000"/>
            </a:srgbClr>
          </a:solidFill>
          <a:ln/>
        </p:spPr>
        <p:txBody>
          <a:bodyPr/>
          <a:lstStyle/>
          <a:p>
            <a:endParaRPr lang="en-US" sz="2400"/>
          </a:p>
        </p:txBody>
      </p:sp>
      <p:sp>
        <p:nvSpPr>
          <p:cNvPr id="25" name="Shape 21"/>
          <p:cNvSpPr/>
          <p:nvPr/>
        </p:nvSpPr>
        <p:spPr>
          <a:xfrm>
            <a:off x="7924800" y="3413760"/>
            <a:ext cx="146304" cy="146304"/>
          </a:xfrm>
          <a:prstGeom prst="ellipse">
            <a:avLst/>
          </a:prstGeom>
          <a:solidFill>
            <a:srgbClr val="E63946">
              <a:alpha val="70000"/>
            </a:srgbClr>
          </a:solidFill>
          <a:ln/>
        </p:spPr>
        <p:txBody>
          <a:bodyPr/>
          <a:lstStyle/>
          <a:p>
            <a:endParaRPr lang="en-US" sz="2400"/>
          </a:p>
        </p:txBody>
      </p:sp>
      <p:sp>
        <p:nvSpPr>
          <p:cNvPr id="26" name="Shape 22"/>
          <p:cNvSpPr/>
          <p:nvPr/>
        </p:nvSpPr>
        <p:spPr>
          <a:xfrm>
            <a:off x="8656320" y="3657600"/>
            <a:ext cx="146304" cy="146304"/>
          </a:xfrm>
          <a:prstGeom prst="ellipse">
            <a:avLst/>
          </a:prstGeom>
          <a:solidFill>
            <a:srgbClr val="0077B6">
              <a:alpha val="70000"/>
            </a:srgbClr>
          </a:solidFill>
          <a:ln/>
        </p:spPr>
        <p:txBody>
          <a:bodyPr/>
          <a:lstStyle/>
          <a:p>
            <a:endParaRPr lang="en-US" sz="2400"/>
          </a:p>
        </p:txBody>
      </p:sp>
      <p:sp>
        <p:nvSpPr>
          <p:cNvPr id="27" name="Shape 23"/>
          <p:cNvSpPr/>
          <p:nvPr/>
        </p:nvSpPr>
        <p:spPr>
          <a:xfrm>
            <a:off x="7315200" y="3901440"/>
            <a:ext cx="146304" cy="146304"/>
          </a:xfrm>
          <a:prstGeom prst="ellipse">
            <a:avLst/>
          </a:prstGeom>
          <a:solidFill>
            <a:srgbClr val="F4A261">
              <a:alpha val="70000"/>
            </a:srgbClr>
          </a:solidFill>
          <a:ln/>
        </p:spPr>
        <p:txBody>
          <a:bodyPr/>
          <a:lstStyle/>
          <a:p>
            <a:endParaRPr lang="en-US" sz="2400"/>
          </a:p>
        </p:txBody>
      </p:sp>
      <p:sp>
        <p:nvSpPr>
          <p:cNvPr id="28" name="Shape 24"/>
          <p:cNvSpPr/>
          <p:nvPr/>
        </p:nvSpPr>
        <p:spPr>
          <a:xfrm>
            <a:off x="9265920" y="3413760"/>
            <a:ext cx="146304" cy="146304"/>
          </a:xfrm>
          <a:prstGeom prst="ellipse">
            <a:avLst/>
          </a:prstGeom>
          <a:solidFill>
            <a:srgbClr val="E63946">
              <a:alpha val="70000"/>
            </a:srgbClr>
          </a:solidFill>
          <a:ln/>
        </p:spPr>
        <p:txBody>
          <a:bodyPr/>
          <a:lstStyle/>
          <a:p>
            <a:endParaRPr lang="en-US" sz="2400"/>
          </a:p>
        </p:txBody>
      </p:sp>
      <p:sp>
        <p:nvSpPr>
          <p:cNvPr id="29" name="Shape 25"/>
          <p:cNvSpPr/>
          <p:nvPr/>
        </p:nvSpPr>
        <p:spPr>
          <a:xfrm>
            <a:off x="7680960" y="4267200"/>
            <a:ext cx="146304" cy="146304"/>
          </a:xfrm>
          <a:prstGeom prst="ellipse">
            <a:avLst/>
          </a:prstGeom>
          <a:solidFill>
            <a:srgbClr val="0077B6">
              <a:alpha val="70000"/>
            </a:srgbClr>
          </a:solidFill>
          <a:ln/>
        </p:spPr>
        <p:txBody>
          <a:bodyPr/>
          <a:lstStyle/>
          <a:p>
            <a:endParaRPr lang="en-US" sz="2400"/>
          </a:p>
        </p:txBody>
      </p:sp>
      <p:sp>
        <p:nvSpPr>
          <p:cNvPr id="30" name="Shape 26"/>
          <p:cNvSpPr/>
          <p:nvPr/>
        </p:nvSpPr>
        <p:spPr>
          <a:xfrm>
            <a:off x="8778240" y="4145280"/>
            <a:ext cx="146304" cy="146304"/>
          </a:xfrm>
          <a:prstGeom prst="ellipse">
            <a:avLst/>
          </a:prstGeom>
          <a:solidFill>
            <a:srgbClr val="F4A261">
              <a:alpha val="70000"/>
            </a:srgbClr>
          </a:solidFill>
          <a:ln/>
        </p:spPr>
        <p:txBody>
          <a:bodyPr/>
          <a:lstStyle/>
          <a:p>
            <a:endParaRPr lang="en-US" sz="2400"/>
          </a:p>
        </p:txBody>
      </p:sp>
      <p:sp>
        <p:nvSpPr>
          <p:cNvPr id="31" name="Shape 27"/>
          <p:cNvSpPr/>
          <p:nvPr/>
        </p:nvSpPr>
        <p:spPr>
          <a:xfrm>
            <a:off x="8412480" y="3048000"/>
            <a:ext cx="146304" cy="146304"/>
          </a:xfrm>
          <a:prstGeom prst="ellipse">
            <a:avLst/>
          </a:prstGeom>
          <a:solidFill>
            <a:srgbClr val="0077B6">
              <a:alpha val="70000"/>
            </a:srgbClr>
          </a:solidFill>
          <a:ln/>
        </p:spPr>
        <p:txBody>
          <a:bodyPr/>
          <a:lstStyle/>
          <a:p>
            <a:endParaRPr lang="en-US" sz="2400"/>
          </a:p>
        </p:txBody>
      </p:sp>
      <p:sp>
        <p:nvSpPr>
          <p:cNvPr id="32" name="Shape 28"/>
          <p:cNvSpPr/>
          <p:nvPr/>
        </p:nvSpPr>
        <p:spPr>
          <a:xfrm>
            <a:off x="9144000" y="3901440"/>
            <a:ext cx="146304" cy="146304"/>
          </a:xfrm>
          <a:prstGeom prst="ellipse">
            <a:avLst/>
          </a:prstGeom>
          <a:solidFill>
            <a:srgbClr val="E63946">
              <a:alpha val="70000"/>
            </a:srgbClr>
          </a:solidFill>
          <a:ln/>
        </p:spPr>
        <p:txBody>
          <a:bodyPr/>
          <a:lstStyle/>
          <a:p>
            <a:endParaRPr lang="en-US" sz="2400"/>
          </a:p>
        </p:txBody>
      </p:sp>
      <p:sp>
        <p:nvSpPr>
          <p:cNvPr id="33" name="Shape 29"/>
          <p:cNvSpPr/>
          <p:nvPr/>
        </p:nvSpPr>
        <p:spPr>
          <a:xfrm>
            <a:off x="7437120" y="3291840"/>
            <a:ext cx="146304" cy="146304"/>
          </a:xfrm>
          <a:prstGeom prst="ellipse">
            <a:avLst/>
          </a:prstGeom>
          <a:solidFill>
            <a:srgbClr val="F4A261">
              <a:alpha val="70000"/>
            </a:srgbClr>
          </a:solidFill>
          <a:ln/>
        </p:spPr>
        <p:txBody>
          <a:bodyPr/>
          <a:lstStyle/>
          <a:p>
            <a:endParaRPr lang="en-US" sz="2400"/>
          </a:p>
        </p:txBody>
      </p:sp>
      <p:sp>
        <p:nvSpPr>
          <p:cNvPr id="34" name="Shape 30"/>
          <p:cNvSpPr/>
          <p:nvPr/>
        </p:nvSpPr>
        <p:spPr>
          <a:xfrm>
            <a:off x="9509760" y="4389120"/>
            <a:ext cx="146304" cy="146304"/>
          </a:xfrm>
          <a:prstGeom prst="ellipse">
            <a:avLst/>
          </a:prstGeom>
          <a:solidFill>
            <a:srgbClr val="0077B6">
              <a:alpha val="70000"/>
            </a:srgbClr>
          </a:solidFill>
          <a:ln/>
        </p:spPr>
        <p:txBody>
          <a:bodyPr/>
          <a:lstStyle/>
          <a:p>
            <a:endParaRPr lang="en-US" sz="2400"/>
          </a:p>
        </p:txBody>
      </p:sp>
      <p:sp>
        <p:nvSpPr>
          <p:cNvPr id="35" name="Shape 31"/>
          <p:cNvSpPr/>
          <p:nvPr/>
        </p:nvSpPr>
        <p:spPr>
          <a:xfrm>
            <a:off x="8046720" y="4511040"/>
            <a:ext cx="146304" cy="146304"/>
          </a:xfrm>
          <a:prstGeom prst="ellipse">
            <a:avLst/>
          </a:prstGeom>
          <a:solidFill>
            <a:srgbClr val="E63946">
              <a:alpha val="70000"/>
            </a:srgbClr>
          </a:solidFill>
          <a:ln/>
        </p:spPr>
        <p:txBody>
          <a:bodyPr/>
          <a:lstStyle/>
          <a:p>
            <a:endParaRPr lang="en-US" sz="2400"/>
          </a:p>
        </p:txBody>
      </p:sp>
      <p:sp>
        <p:nvSpPr>
          <p:cNvPr id="36" name="Shape 32"/>
          <p:cNvSpPr/>
          <p:nvPr/>
        </p:nvSpPr>
        <p:spPr>
          <a:xfrm>
            <a:off x="8900160" y="2682240"/>
            <a:ext cx="146304" cy="146304"/>
          </a:xfrm>
          <a:prstGeom prst="ellipse">
            <a:avLst/>
          </a:prstGeom>
          <a:solidFill>
            <a:srgbClr val="F4A261">
              <a:alpha val="70000"/>
            </a:srgbClr>
          </a:solidFill>
          <a:ln/>
        </p:spPr>
        <p:txBody>
          <a:bodyPr/>
          <a:lstStyle/>
          <a:p>
            <a:endParaRPr lang="en-US" sz="2400"/>
          </a:p>
        </p:txBody>
      </p:sp>
      <p:sp>
        <p:nvSpPr>
          <p:cNvPr id="37" name="Text 33"/>
          <p:cNvSpPr/>
          <p:nvPr/>
        </p:nvSpPr>
        <p:spPr>
          <a:xfrm>
            <a:off x="7802880" y="3048000"/>
            <a:ext cx="1463040" cy="1463040"/>
          </a:xfrm>
          <a:prstGeom prst="rect">
            <a:avLst/>
          </a:prstGeom>
          <a:noFill/>
          <a:ln/>
        </p:spPr>
        <p:txBody>
          <a:bodyPr wrap="square" rtlCol="0" anchor="ctr"/>
          <a:lstStyle/>
          <a:p>
            <a:pPr algn="ctr"/>
            <a:r>
              <a:rPr lang="en-US" sz="6400" b="1" dirty="0">
                <a:solidFill>
                  <a:srgbClr val="0B1F3F">
                    <a:alpha val="80000"/>
                  </a:srgbClr>
                </a:solidFill>
                <a:latin typeface="Georgia" pitchFamily="34" charset="0"/>
                <a:ea typeface="Georgia" pitchFamily="34" charset="-122"/>
                <a:cs typeface="Georgia" pitchFamily="34" charset="-120"/>
              </a:rPr>
              <a:t>?</a:t>
            </a:r>
            <a:endParaRPr lang="en-US" sz="6400" dirty="0"/>
          </a:p>
        </p:txBody>
      </p:sp>
      <p:sp>
        <p:nvSpPr>
          <p:cNvPr id="38" name="Shape 34"/>
          <p:cNvSpPr/>
          <p:nvPr/>
        </p:nvSpPr>
        <p:spPr>
          <a:xfrm>
            <a:off x="975360" y="6096000"/>
            <a:ext cx="10241280" cy="548640"/>
          </a:xfrm>
          <a:prstGeom prst="rect">
            <a:avLst/>
          </a:prstGeom>
          <a:solidFill>
            <a:srgbClr val="0B1F3F"/>
          </a:solidFill>
          <a:ln/>
        </p:spPr>
        <p:txBody>
          <a:bodyPr/>
          <a:lstStyle/>
          <a:p>
            <a:endParaRPr lang="en-US" sz="2400"/>
          </a:p>
        </p:txBody>
      </p:sp>
      <p:sp>
        <p:nvSpPr>
          <p:cNvPr id="39" name="Text 35"/>
          <p:cNvSpPr/>
          <p:nvPr/>
        </p:nvSpPr>
        <p:spPr>
          <a:xfrm>
            <a:off x="975360" y="6096000"/>
            <a:ext cx="10241280" cy="54864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Do personality traits form a coherent geometry in activation space?</a:t>
            </a:r>
            <a:endParaRPr lang="en-US" sz="18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iagram of a diagram&#10;&#10;AI-generated content may be incorrect.">
            <a:extLst>
              <a:ext uri="{FF2B5EF4-FFF2-40B4-BE49-F238E27FC236}">
                <a16:creationId xmlns:a16="http://schemas.microsoft.com/office/drawing/2014/main" id="{2E779F32-8C44-B331-FD50-97002E1AAC9B}"/>
              </a:ext>
            </a:extLst>
          </p:cNvPr>
          <p:cNvPicPr>
            <a:picLocks noChangeAspect="1"/>
          </p:cNvPicPr>
          <p:nvPr/>
        </p:nvPicPr>
        <p:blipFill>
          <a:blip r:embed="rId2"/>
          <a:stretch>
            <a:fillRect/>
          </a:stretch>
        </p:blipFill>
        <p:spPr>
          <a:xfrm>
            <a:off x="1907228" y="643466"/>
            <a:ext cx="8377544" cy="5571067"/>
          </a:xfrm>
          <a:prstGeom prst="rect">
            <a:avLst/>
          </a:prstGeom>
        </p:spPr>
      </p:pic>
    </p:spTree>
    <p:extLst>
      <p:ext uri="{BB962C8B-B14F-4D97-AF65-F5344CB8AC3E}">
        <p14:creationId xmlns:p14="http://schemas.microsoft.com/office/powerpoint/2010/main" val="589195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972800" cy="853440"/>
          </a:xfrm>
          <a:prstGeom prst="rect">
            <a:avLst/>
          </a:prstGeom>
          <a:noFill/>
          <a:ln/>
        </p:spPr>
        <p:txBody>
          <a:bodyPr wrap="square" lIns="0" tIns="0" rIns="0" bIns="0" rtlCol="0" anchor="ctr"/>
          <a:lstStyle/>
          <a:p>
            <a:r>
              <a:rPr lang="en-US" sz="4000" b="1" dirty="0">
                <a:solidFill>
                  <a:srgbClr val="1E2761"/>
                </a:solidFill>
                <a:latin typeface="Georgia" pitchFamily="34" charset="0"/>
                <a:ea typeface="Georgia" pitchFamily="34" charset="-122"/>
                <a:cs typeface="Georgia" pitchFamily="34" charset="-120"/>
              </a:rPr>
              <a:t>Two-Metric Evaluation Framework</a:t>
            </a:r>
            <a:endParaRPr lang="en-US" sz="4000" dirty="0"/>
          </a:p>
        </p:txBody>
      </p:sp>
      <p:sp>
        <p:nvSpPr>
          <p:cNvPr id="3" name="Shape 1"/>
          <p:cNvSpPr/>
          <p:nvPr/>
        </p:nvSpPr>
        <p:spPr>
          <a:xfrm>
            <a:off x="609600" y="1463040"/>
            <a:ext cx="5242560" cy="4876800"/>
          </a:xfrm>
          <a:prstGeom prst="rect">
            <a:avLst/>
          </a:prstGeom>
          <a:solidFill>
            <a:srgbClr val="1E2761"/>
          </a:solidFill>
          <a:ln/>
        </p:spPr>
        <p:txBody>
          <a:bodyPr/>
          <a:lstStyle/>
          <a:p>
            <a:endParaRPr lang="en-US" sz="2400"/>
          </a:p>
        </p:txBody>
      </p:sp>
      <p:pic>
        <p:nvPicPr>
          <p:cNvPr id="4" name="Image 0" descr="preencoded.png"/>
          <p:cNvPicPr>
            <a:picLocks noChangeAspect="1"/>
          </p:cNvPicPr>
          <p:nvPr/>
        </p:nvPicPr>
        <p:blipFill>
          <a:blip r:embed="rId3"/>
          <a:stretch>
            <a:fillRect/>
          </a:stretch>
        </p:blipFill>
        <p:spPr>
          <a:xfrm>
            <a:off x="975360" y="1767840"/>
            <a:ext cx="548640" cy="548640"/>
          </a:xfrm>
          <a:prstGeom prst="rect">
            <a:avLst/>
          </a:prstGeom>
        </p:spPr>
      </p:pic>
      <p:sp>
        <p:nvSpPr>
          <p:cNvPr id="5" name="Text 2"/>
          <p:cNvSpPr/>
          <p:nvPr/>
        </p:nvSpPr>
        <p:spPr>
          <a:xfrm>
            <a:off x="1706880" y="1706880"/>
            <a:ext cx="3657600" cy="365760"/>
          </a:xfrm>
          <a:prstGeom prst="rect">
            <a:avLst/>
          </a:prstGeom>
          <a:noFill/>
          <a:ln/>
        </p:spPr>
        <p:txBody>
          <a:bodyPr wrap="square" rtlCol="0" anchor="ctr"/>
          <a:lstStyle/>
          <a:p>
            <a:r>
              <a:rPr lang="en-US" sz="1467" b="1" kern="0" spc="400" dirty="0">
                <a:solidFill>
                  <a:srgbClr val="CADCFC"/>
                </a:solidFill>
                <a:latin typeface="Calibri" pitchFamily="34" charset="0"/>
                <a:ea typeface="Calibri" pitchFamily="34" charset="-122"/>
                <a:cs typeface="Calibri" pitchFamily="34" charset="-120"/>
              </a:rPr>
              <a:t>METRIC A</a:t>
            </a:r>
            <a:endParaRPr lang="en-US" sz="1467" dirty="0"/>
          </a:p>
        </p:txBody>
      </p:sp>
      <p:sp>
        <p:nvSpPr>
          <p:cNvPr id="6" name="Text 3"/>
          <p:cNvSpPr/>
          <p:nvPr/>
        </p:nvSpPr>
        <p:spPr>
          <a:xfrm>
            <a:off x="975360" y="2255520"/>
            <a:ext cx="4632960" cy="487680"/>
          </a:xfrm>
          <a:prstGeom prst="rect">
            <a:avLst/>
          </a:prstGeom>
          <a:noFill/>
          <a:ln/>
        </p:spPr>
        <p:txBody>
          <a:bodyPr wrap="square" rtlCol="0" anchor="ctr"/>
          <a:lstStyle/>
          <a:p>
            <a:r>
              <a:rPr lang="en-US" sz="2400" b="1" dirty="0">
                <a:solidFill>
                  <a:srgbClr val="FFFFFF"/>
                </a:solidFill>
                <a:latin typeface="Georgia" pitchFamily="34" charset="0"/>
                <a:ea typeface="Georgia" pitchFamily="34" charset="-122"/>
                <a:cs typeface="Georgia" pitchFamily="34" charset="-120"/>
              </a:rPr>
              <a:t>Empirical Personification</a:t>
            </a:r>
            <a:endParaRPr lang="en-US" sz="2400" dirty="0"/>
          </a:p>
        </p:txBody>
      </p:sp>
      <p:sp>
        <p:nvSpPr>
          <p:cNvPr id="7" name="Text 4"/>
          <p:cNvSpPr/>
          <p:nvPr/>
        </p:nvSpPr>
        <p:spPr>
          <a:xfrm>
            <a:off x="975360" y="2926080"/>
            <a:ext cx="4632960" cy="3169920"/>
          </a:xfrm>
          <a:prstGeom prst="rect">
            <a:avLst/>
          </a:prstGeom>
          <a:noFill/>
          <a:ln/>
        </p:spPr>
        <p:txBody>
          <a:bodyPr wrap="square" rtlCol="0" anchor="ctr"/>
          <a:lstStyle/>
          <a:p>
            <a:r>
              <a:rPr lang="en-US" sz="1600" b="1" dirty="0">
                <a:solidFill>
                  <a:srgbClr val="CADCFC"/>
                </a:solidFill>
              </a:rPr>
              <a:t>Gold label: </a:t>
            </a:r>
            <a:r>
              <a:rPr lang="en-US" sz="1600" dirty="0">
                <a:solidFill>
                  <a:srgbClr val="CADCFC"/>
                </a:solidFill>
              </a:rPr>
              <a:t>Prompt-engineered persona (the literature standard)</a:t>
            </a:r>
            <a:endParaRPr lang="en-US" sz="1600" dirty="0"/>
          </a:p>
          <a:p>
            <a:endParaRPr lang="en-US" sz="1600" dirty="0"/>
          </a:p>
          <a:p>
            <a:r>
              <a:rPr lang="en-US" sz="1600" b="1" dirty="0">
                <a:solidFill>
                  <a:srgbClr val="CADCFC"/>
                </a:solidFill>
              </a:rPr>
              <a:t>Comparison: </a:t>
            </a:r>
            <a:r>
              <a:rPr lang="en-US" sz="1600" dirty="0">
                <a:solidFill>
                  <a:srgbClr val="CADCFC"/>
                </a:solidFill>
              </a:rPr>
              <a:t>Our contrastive method vs. Christina’s extraction, judged against the gold label</a:t>
            </a:r>
            <a:endParaRPr lang="en-US" sz="1600" dirty="0"/>
          </a:p>
          <a:p>
            <a:endParaRPr lang="en-US" sz="1600" dirty="0"/>
          </a:p>
          <a:p>
            <a:r>
              <a:rPr lang="en-US" sz="1600" b="1" dirty="0">
                <a:solidFill>
                  <a:srgbClr val="CADCFC"/>
                </a:solidFill>
              </a:rPr>
              <a:t>Method: </a:t>
            </a:r>
            <a:r>
              <a:rPr lang="en-US" sz="1600" dirty="0">
                <a:solidFill>
                  <a:srgbClr val="CADCFC"/>
                </a:solidFill>
              </a:rPr>
              <a:t>LLM-as-judge (multiple models) on 230+ validation questions</a:t>
            </a:r>
          </a:p>
          <a:p>
            <a:endParaRPr lang="en-US" sz="1600" dirty="0"/>
          </a:p>
          <a:p>
            <a:r>
              <a:rPr lang="en-US" sz="1600" b="1" dirty="0">
                <a:solidFill>
                  <a:srgbClr val="FFD700"/>
                </a:solidFill>
              </a:rPr>
              <a:t>Result: </a:t>
            </a:r>
            <a:r>
              <a:rPr lang="en-US" sz="1600" dirty="0">
                <a:solidFill>
                  <a:srgbClr val="FFD700"/>
                </a:solidFill>
              </a:rPr>
              <a:t>Our methods show notably stronger 1st-person narration and role reasoning in our method</a:t>
            </a:r>
            <a:endParaRPr lang="en-US" sz="1600" dirty="0"/>
          </a:p>
        </p:txBody>
      </p:sp>
      <p:sp>
        <p:nvSpPr>
          <p:cNvPr id="8" name="Shape 5"/>
          <p:cNvSpPr/>
          <p:nvPr/>
        </p:nvSpPr>
        <p:spPr>
          <a:xfrm>
            <a:off x="6339840" y="1463040"/>
            <a:ext cx="5242560" cy="4876800"/>
          </a:xfrm>
          <a:prstGeom prst="rect">
            <a:avLst/>
          </a:prstGeom>
          <a:solidFill>
            <a:srgbClr val="FFD800"/>
          </a:solidFill>
          <a:ln/>
          <a:effectLst>
            <a:outerShdw blurRad="76200" dist="25400" dir="8100000" algn="bl" rotWithShape="0">
              <a:srgbClr val="000000">
                <a:alpha val="8000"/>
              </a:srgbClr>
            </a:outerShdw>
          </a:effectLst>
        </p:spPr>
        <p:txBody>
          <a:bodyPr/>
          <a:lstStyle/>
          <a:p>
            <a:endParaRPr lang="en-US" sz="2400"/>
          </a:p>
        </p:txBody>
      </p:sp>
      <p:pic>
        <p:nvPicPr>
          <p:cNvPr id="9" name="Image 1" descr="preencoded.png"/>
          <p:cNvPicPr>
            <a:picLocks noChangeAspect="1"/>
          </p:cNvPicPr>
          <p:nvPr/>
        </p:nvPicPr>
        <p:blipFill>
          <a:blip r:embed="rId4"/>
          <a:stretch>
            <a:fillRect/>
          </a:stretch>
        </p:blipFill>
        <p:spPr>
          <a:xfrm>
            <a:off x="6705600" y="1767840"/>
            <a:ext cx="548640" cy="548640"/>
          </a:xfrm>
          <a:prstGeom prst="rect">
            <a:avLst/>
          </a:prstGeom>
        </p:spPr>
      </p:pic>
      <p:sp>
        <p:nvSpPr>
          <p:cNvPr id="10" name="Text 6"/>
          <p:cNvSpPr/>
          <p:nvPr/>
        </p:nvSpPr>
        <p:spPr>
          <a:xfrm>
            <a:off x="7437120" y="1706880"/>
            <a:ext cx="3657600" cy="365760"/>
          </a:xfrm>
          <a:prstGeom prst="rect">
            <a:avLst/>
          </a:prstGeom>
          <a:noFill/>
          <a:ln/>
        </p:spPr>
        <p:txBody>
          <a:bodyPr wrap="square" rtlCol="0" anchor="ctr"/>
          <a:lstStyle/>
          <a:p>
            <a:r>
              <a:rPr lang="en-US" sz="1467" b="1" kern="0" spc="400" dirty="0">
                <a:solidFill>
                  <a:srgbClr val="1E2761"/>
                </a:solidFill>
                <a:latin typeface="Calibri" pitchFamily="34" charset="0"/>
                <a:ea typeface="Calibri" pitchFamily="34" charset="-122"/>
                <a:cs typeface="Calibri" pitchFamily="34" charset="-120"/>
              </a:rPr>
              <a:t>METRIC B</a:t>
            </a:r>
            <a:endParaRPr lang="en-US" sz="1467" dirty="0"/>
          </a:p>
        </p:txBody>
      </p:sp>
      <p:sp>
        <p:nvSpPr>
          <p:cNvPr id="11" name="Text 7"/>
          <p:cNvSpPr/>
          <p:nvPr/>
        </p:nvSpPr>
        <p:spPr>
          <a:xfrm>
            <a:off x="6705600" y="2255520"/>
            <a:ext cx="4632960" cy="487680"/>
          </a:xfrm>
          <a:prstGeom prst="rect">
            <a:avLst/>
          </a:prstGeom>
          <a:noFill/>
          <a:ln/>
        </p:spPr>
        <p:txBody>
          <a:bodyPr wrap="square" rtlCol="0" anchor="ctr"/>
          <a:lstStyle/>
          <a:p>
            <a:r>
              <a:rPr lang="en-US" sz="2400" b="1" dirty="0">
                <a:latin typeface="Georgia" pitchFamily="34" charset="0"/>
                <a:ea typeface="Georgia" pitchFamily="34" charset="-122"/>
                <a:cs typeface="Georgia" pitchFamily="34" charset="-120"/>
              </a:rPr>
              <a:t>Manifold Geometry</a:t>
            </a:r>
            <a:endParaRPr lang="en-US" sz="2400" dirty="0"/>
          </a:p>
        </p:txBody>
      </p:sp>
      <p:sp>
        <p:nvSpPr>
          <p:cNvPr id="12" name="Text 8"/>
          <p:cNvSpPr/>
          <p:nvPr/>
        </p:nvSpPr>
        <p:spPr>
          <a:xfrm>
            <a:off x="6705600" y="2926080"/>
            <a:ext cx="4632960" cy="3169920"/>
          </a:xfrm>
          <a:prstGeom prst="rect">
            <a:avLst/>
          </a:prstGeom>
          <a:noFill/>
          <a:ln/>
        </p:spPr>
        <p:txBody>
          <a:bodyPr wrap="square" rtlCol="0" anchor="ctr"/>
          <a:lstStyle/>
          <a:p>
            <a:r>
              <a:rPr lang="en-US" sz="1600" b="1" dirty="0">
                <a:solidFill>
                  <a:srgbClr val="1E2760"/>
                </a:solidFill>
              </a:rPr>
              <a:t>Primary analysis: </a:t>
            </a:r>
            <a:r>
              <a:rPr lang="en-US" sz="1600" dirty="0">
                <a:solidFill>
                  <a:srgbClr val="1E2760"/>
                </a:solidFill>
              </a:rPr>
              <a:t>PCA on persona vectors—how much variance does PC1 (assistant axis) explain?</a:t>
            </a:r>
          </a:p>
          <a:p>
            <a:endParaRPr lang="en-US" sz="1600" dirty="0">
              <a:solidFill>
                <a:srgbClr val="1E2760"/>
              </a:solidFill>
            </a:endParaRPr>
          </a:p>
          <a:p>
            <a:r>
              <a:rPr lang="en-US" sz="1600" b="1" dirty="0">
                <a:solidFill>
                  <a:srgbClr val="1E2760"/>
                </a:solidFill>
              </a:rPr>
              <a:t>Hypothesis: </a:t>
            </a:r>
            <a:r>
              <a:rPr lang="en-US" sz="1600" dirty="0">
                <a:solidFill>
                  <a:srgbClr val="1E2760"/>
                </a:solidFill>
              </a:rPr>
              <a:t>Better elicitation → reduced assistant axis dominance → more role-specific behavior</a:t>
            </a:r>
          </a:p>
          <a:p>
            <a:endParaRPr lang="en-US" sz="1600" dirty="0">
              <a:solidFill>
                <a:srgbClr val="1E2760"/>
              </a:solidFill>
            </a:endParaRPr>
          </a:p>
          <a:p>
            <a:r>
              <a:rPr lang="en-US" sz="1600" b="1" dirty="0">
                <a:solidFill>
                  <a:srgbClr val="1E2760"/>
                </a:solidFill>
              </a:rPr>
              <a:t>Beyond PCA: </a:t>
            </a:r>
            <a:r>
              <a:rPr lang="en-US" sz="1600" dirty="0">
                <a:solidFill>
                  <a:srgbClr val="1E2760"/>
                </a:solidFill>
              </a:rPr>
              <a:t>Also testing t-SNE, NMF for better manifold characterization</a:t>
            </a:r>
          </a:p>
          <a:p>
            <a:endParaRPr lang="en-US" sz="1600" dirty="0">
              <a:solidFill>
                <a:srgbClr val="666666"/>
              </a:solidFill>
            </a:endParaRPr>
          </a:p>
          <a:p>
            <a:r>
              <a:rPr lang="en-US" sz="1600" b="1" dirty="0">
                <a:solidFill>
                  <a:srgbClr val="1E2760"/>
                </a:solidFill>
              </a:rPr>
              <a:t>Result: </a:t>
            </a:r>
            <a:r>
              <a:rPr lang="en-US" sz="1600" dirty="0">
                <a:solidFill>
                  <a:srgbClr val="1E2760"/>
                </a:solidFill>
              </a:rPr>
              <a:t>Our methods provide supports and contextualizes the Persona Selection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731520" y="365760"/>
            <a:ext cx="10972800" cy="853440"/>
          </a:xfrm>
          <a:prstGeom prst="rect">
            <a:avLst/>
          </a:prstGeom>
          <a:noFill/>
          <a:ln/>
        </p:spPr>
        <p:txBody>
          <a:bodyPr wrap="square" lIns="0" tIns="0" rIns="0" bIns="0" rtlCol="0" anchor="ctr"/>
          <a:lstStyle/>
          <a:p>
            <a:r>
              <a:rPr lang="en-US" sz="4000" b="1" dirty="0">
                <a:solidFill>
                  <a:srgbClr val="1E2761"/>
                </a:solidFill>
                <a:latin typeface="Georgia" pitchFamily="34" charset="0"/>
                <a:ea typeface="Georgia" pitchFamily="34" charset="-122"/>
                <a:cs typeface="Georgia" pitchFamily="34" charset="-120"/>
              </a:rPr>
              <a:t>Methodology: Ours vs. Baseline</a:t>
            </a:r>
            <a:endParaRPr lang="en-US" sz="4000" dirty="0"/>
          </a:p>
        </p:txBody>
      </p:sp>
      <p:graphicFrame>
        <p:nvGraphicFramePr>
          <p:cNvPr id="5" name="Table 0"/>
          <p:cNvGraphicFramePr>
            <a:graphicFrameLocks noGrp="1"/>
          </p:cNvGraphicFramePr>
          <p:nvPr>
            <p:extLst>
              <p:ext uri="{D42A27DB-BD31-4B8C-83A1-F6EECF244321}">
                <p14:modId xmlns:p14="http://schemas.microsoft.com/office/powerpoint/2010/main" val="2646787918"/>
              </p:ext>
            </p:extLst>
          </p:nvPr>
        </p:nvGraphicFramePr>
        <p:xfrm>
          <a:off x="609600" y="1402080"/>
          <a:ext cx="10972800" cy="2682240"/>
        </p:xfrm>
        <a:graphic>
          <a:graphicData uri="http://schemas.openxmlformats.org/drawingml/2006/table">
            <a:tbl>
              <a:tblPr/>
              <a:tblGrid>
                <a:gridCol w="219456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gridCol w="4511040">
                  <a:extLst>
                    <a:ext uri="{9D8B030D-6E8A-4147-A177-3AD203B41FA5}">
                      <a16:colId xmlns:a16="http://schemas.microsoft.com/office/drawing/2014/main" val="20002"/>
                    </a:ext>
                  </a:extLst>
                </a:gridCol>
              </a:tblGrid>
              <a:tr h="36576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Dimension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Christina (Asst. Axis)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Our Method</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09600">
                <a:tc>
                  <a:txBody>
                    <a:bodyPr/>
                    <a:lstStyle/>
                    <a:p>
                      <a:pPr marL="0" indent="0">
                        <a:buNone/>
                      </a:pPr>
                      <a:r>
                        <a:rPr lang="en-US" sz="1600" b="1" dirty="0">
                          <a:solidFill>
                            <a:srgbClr val="111111"/>
                          </a:solidFill>
                          <a:latin typeface="Calibri" pitchFamily="34" charset="0"/>
                          <a:ea typeface="Calibri" pitchFamily="34" charset="-122"/>
                          <a:cs typeface="Calibri" pitchFamily="34" charset="-120"/>
                        </a:rPr>
                        <a:t>Vector Extraction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Mean activation of persona-prompted responses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Contrastive difference (persona – baseline) + scoring filter</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600" b="1" dirty="0">
                          <a:solidFill>
                            <a:srgbClr val="111111"/>
                          </a:solidFill>
                          <a:latin typeface="Calibri" pitchFamily="34" charset="0"/>
                          <a:ea typeface="Calibri" pitchFamily="34" charset="-122"/>
                          <a:cs typeface="Calibri" pitchFamily="34" charset="-120"/>
                        </a:rPr>
                        <a:t>Elicitation Questions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~40 questions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230+ questions (social, personal, day-to-day)</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9600">
                <a:tc>
                  <a:txBody>
                    <a:bodyPr/>
                    <a:lstStyle/>
                    <a:p>
                      <a:pPr marL="0" indent="0">
                        <a:buNone/>
                      </a:pPr>
                      <a:r>
                        <a:rPr lang="en-US" sz="1600" b="1" dirty="0">
                          <a:solidFill>
                            <a:srgbClr val="111111"/>
                          </a:solidFill>
                          <a:latin typeface="Calibri" pitchFamily="34" charset="0"/>
                          <a:ea typeface="Calibri" pitchFamily="34" charset="-122"/>
                          <a:cs typeface="Calibri" pitchFamily="34" charset="-120"/>
                        </a:rPr>
                        <a:t>Steered Behavior</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Remains assistant-adherent ("here’s how to consider...")</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Shows role personification (1st person, expressed preferences)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600" b="1" dirty="0">
                          <a:solidFill>
                            <a:srgbClr val="111111"/>
                          </a:solidFill>
                          <a:latin typeface="Calibri" pitchFamily="34" charset="0"/>
                          <a:ea typeface="Calibri" pitchFamily="34" charset="-122"/>
                          <a:cs typeface="Calibri" pitchFamily="34" charset="-120"/>
                        </a:rPr>
                        <a:t>Post-Steering Eval</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Not performed for non-assistant roles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pitchFamily="34" charset="-122"/>
                          <a:cs typeface="Calibri" pitchFamily="34" charset="-120"/>
                        </a:rPr>
                        <a:t>LLM-as-judge + NLP analysis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600" b="1" dirty="0">
                          <a:solidFill>
                            <a:srgbClr val="111111"/>
                          </a:solidFill>
                          <a:latin typeface="Calibri" pitchFamily="34" charset="0"/>
                          <a:ea typeface="Calibri" pitchFamily="34" charset="-122"/>
                          <a:cs typeface="Calibri" pitchFamily="34" charset="-120"/>
                        </a:rPr>
                        <a:t>Mean Subtraction</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charset="0"/>
                          <a:cs typeface="Calibri" pitchFamily="34" charset="-120"/>
                        </a:rPr>
                        <a:t>Yes</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600" dirty="0">
                          <a:solidFill>
                            <a:srgbClr val="111111"/>
                          </a:solidFill>
                          <a:latin typeface="Calibri" pitchFamily="34" charset="0"/>
                          <a:ea typeface="Calibri" charset="0"/>
                          <a:cs typeface="Calibri" pitchFamily="34" charset="-120"/>
                        </a:rPr>
                        <a:t>No</a:t>
                      </a:r>
                      <a:endParaRPr lang="en-US" sz="16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3939E43-BD85-8781-92FA-825119868489}"/>
              </a:ext>
            </a:extLst>
          </p:cNvPr>
          <p:cNvSpPr txBox="1"/>
          <p:nvPr/>
        </p:nvSpPr>
        <p:spPr>
          <a:xfrm>
            <a:off x="1072055" y="977462"/>
            <a:ext cx="5265683" cy="923330"/>
          </a:xfrm>
          <a:prstGeom prst="rect">
            <a:avLst/>
          </a:prstGeom>
          <a:noFill/>
        </p:spPr>
        <p:txBody>
          <a:bodyPr wrap="square" rtlCol="0">
            <a:spAutoFit/>
          </a:bodyPr>
          <a:lstStyle/>
          <a:p>
            <a:r>
              <a:rPr lang="en-US" dirty="0"/>
              <a:t>Model: OLMo3-7B-Instruct</a:t>
            </a:r>
          </a:p>
          <a:p>
            <a:r>
              <a:rPr lang="en-US" dirty="0"/>
              <a:t>Judge Model: gpt-4.1</a:t>
            </a:r>
          </a:p>
          <a:p>
            <a:r>
              <a:rPr lang="en-US" dirty="0"/>
              <a:t>Label Model: sonnet-4.5</a:t>
            </a:r>
          </a:p>
        </p:txBody>
      </p:sp>
    </p:spTree>
    <p:extLst>
      <p:ext uri="{BB962C8B-B14F-4D97-AF65-F5344CB8AC3E}">
        <p14:creationId xmlns:p14="http://schemas.microsoft.com/office/powerpoint/2010/main" val="5239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A24E2-46DD-B06D-DE5F-EE16CA2928ED}"/>
              </a:ext>
            </a:extLst>
          </p:cNvPr>
          <p:cNvSpPr>
            <a:spLocks noGrp="1"/>
          </p:cNvSpPr>
          <p:nvPr>
            <p:ph type="title"/>
          </p:nvPr>
        </p:nvSpPr>
        <p:spPr>
          <a:xfrm>
            <a:off x="582010" y="365125"/>
            <a:ext cx="11027979" cy="1325563"/>
          </a:xfrm>
        </p:spPr>
        <p:txBody>
          <a:bodyPr>
            <a:normAutofit fontScale="90000"/>
          </a:bodyPr>
          <a:lstStyle/>
          <a:p>
            <a:pPr algn="ctr"/>
            <a:r>
              <a:rPr lang="en-US" dirty="0"/>
              <a:t>Empirical top line results: we crushed the SOTA (Assistant Axis) and achieved the intended behavior</a:t>
            </a:r>
          </a:p>
        </p:txBody>
      </p:sp>
      <p:pic>
        <p:nvPicPr>
          <p:cNvPr id="5" name="Content Placeholder 4" descr="A graph of a bar&#10;&#10;AI-generated content may be incorrect.">
            <a:extLst>
              <a:ext uri="{FF2B5EF4-FFF2-40B4-BE49-F238E27FC236}">
                <a16:creationId xmlns:a16="http://schemas.microsoft.com/office/drawing/2014/main" id="{BFFE904B-BB9A-3F6C-A731-3A400FE4D9D2}"/>
              </a:ext>
            </a:extLst>
          </p:cNvPr>
          <p:cNvPicPr>
            <a:picLocks noGrp="1" noChangeAspect="1"/>
          </p:cNvPicPr>
          <p:nvPr>
            <p:ph idx="1"/>
          </p:nvPr>
        </p:nvPicPr>
        <p:blipFill>
          <a:blip r:embed="rId2"/>
          <a:stretch>
            <a:fillRect/>
          </a:stretch>
        </p:blipFill>
        <p:spPr>
          <a:xfrm>
            <a:off x="241738" y="2835275"/>
            <a:ext cx="5486400" cy="3657600"/>
          </a:xfrm>
          <a:prstGeom prst="rect">
            <a:avLst/>
          </a:prstGeom>
        </p:spPr>
      </p:pic>
      <p:pic>
        <p:nvPicPr>
          <p:cNvPr id="7" name="Picture 6" descr="A graph with numbers and a red line&#10;&#10;AI-generated content may be incorrect.">
            <a:extLst>
              <a:ext uri="{FF2B5EF4-FFF2-40B4-BE49-F238E27FC236}">
                <a16:creationId xmlns:a16="http://schemas.microsoft.com/office/drawing/2014/main" id="{84DE442A-3E17-9072-8084-F24792A8502B}"/>
              </a:ext>
            </a:extLst>
          </p:cNvPr>
          <p:cNvPicPr>
            <a:picLocks noChangeAspect="1"/>
          </p:cNvPicPr>
          <p:nvPr/>
        </p:nvPicPr>
        <p:blipFill>
          <a:blip r:embed="rId3"/>
          <a:stretch>
            <a:fillRect/>
          </a:stretch>
        </p:blipFill>
        <p:spPr>
          <a:xfrm>
            <a:off x="5549462" y="2835275"/>
            <a:ext cx="6400800" cy="3657600"/>
          </a:xfrm>
          <a:prstGeom prst="rect">
            <a:avLst/>
          </a:prstGeom>
        </p:spPr>
      </p:pic>
    </p:spTree>
    <p:extLst>
      <p:ext uri="{BB962C8B-B14F-4D97-AF65-F5344CB8AC3E}">
        <p14:creationId xmlns:p14="http://schemas.microsoft.com/office/powerpoint/2010/main" val="3466057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A18497-1B34-5125-2741-DE39C9D6CB02}"/>
              </a:ext>
            </a:extLst>
          </p:cNvPr>
          <p:cNvSpPr>
            <a:spLocks noGrp="1"/>
          </p:cNvSpPr>
          <p:nvPr>
            <p:ph type="title"/>
          </p:nvPr>
        </p:nvSpPr>
        <p:spPr/>
        <p:txBody>
          <a:bodyPr>
            <a:normAutofit/>
          </a:bodyPr>
          <a:lstStyle/>
          <a:p>
            <a:pPr algn="ctr"/>
            <a:r>
              <a:rPr lang="en-US" sz="4000" dirty="0"/>
              <a:t>Per-role Pairwise Win Rates Us (G) vs Them (R)</a:t>
            </a:r>
          </a:p>
        </p:txBody>
      </p:sp>
      <p:pic>
        <p:nvPicPr>
          <p:cNvPr id="8" name="Content Placeholder 7" descr="A green and red graph&#10;&#10;AI-generated content may be incorrect.">
            <a:extLst>
              <a:ext uri="{FF2B5EF4-FFF2-40B4-BE49-F238E27FC236}">
                <a16:creationId xmlns:a16="http://schemas.microsoft.com/office/drawing/2014/main" id="{52F82976-8C98-5062-92EB-79A44095B9D2}"/>
              </a:ext>
            </a:extLst>
          </p:cNvPr>
          <p:cNvPicPr>
            <a:picLocks noGrp="1" noChangeAspect="1"/>
          </p:cNvPicPr>
          <p:nvPr>
            <p:ph idx="1"/>
          </p:nvPr>
        </p:nvPicPr>
        <p:blipFill>
          <a:blip r:embed="rId2"/>
          <a:stretch>
            <a:fillRect/>
          </a:stretch>
        </p:blipFill>
        <p:spPr>
          <a:xfrm>
            <a:off x="280334" y="1975945"/>
            <a:ext cx="11631332" cy="3728654"/>
          </a:xfrm>
          <a:prstGeom prst="rect">
            <a:avLst/>
          </a:prstGeom>
        </p:spPr>
      </p:pic>
    </p:spTree>
    <p:extLst>
      <p:ext uri="{BB962C8B-B14F-4D97-AF65-F5344CB8AC3E}">
        <p14:creationId xmlns:p14="http://schemas.microsoft.com/office/powerpoint/2010/main" val="4046157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7B00-C2DB-AB4D-827B-242A0BD59E3C}"/>
              </a:ext>
            </a:extLst>
          </p:cNvPr>
          <p:cNvSpPr>
            <a:spLocks noGrp="1"/>
          </p:cNvSpPr>
          <p:nvPr>
            <p:ph type="title"/>
          </p:nvPr>
        </p:nvSpPr>
        <p:spPr>
          <a:xfrm>
            <a:off x="0" y="409902"/>
            <a:ext cx="11353800" cy="694069"/>
          </a:xfrm>
        </p:spPr>
        <p:txBody>
          <a:bodyPr>
            <a:noAutofit/>
          </a:bodyPr>
          <a:lstStyle/>
          <a:p>
            <a:pPr algn="ctr"/>
            <a:r>
              <a:rPr lang="en-US" sz="2800" dirty="0"/>
              <a:t>We begin by replicating/recovering Lu et al assistant axis role methodologies. There is a PCA plot in that paper. We replicate that plot (a), and supplement it with a (b) 2D </a:t>
            </a:r>
            <a:r>
              <a:rPr lang="en-US" sz="2800" dirty="0" err="1"/>
              <a:t>tSNE</a:t>
            </a:r>
            <a:r>
              <a:rPr lang="en-US" sz="2800" dirty="0"/>
              <a:t> (c) 3D </a:t>
            </a:r>
            <a:r>
              <a:rPr lang="en-US" sz="2800" dirty="0" err="1"/>
              <a:t>tSNE</a:t>
            </a:r>
            <a:r>
              <a:rPr lang="en-US" sz="2800" dirty="0"/>
              <a:t> plot</a:t>
            </a:r>
          </a:p>
        </p:txBody>
      </p:sp>
      <p:pic>
        <p:nvPicPr>
          <p:cNvPr id="9" name="Picture 8" descr="A screen shot of a graph&#10;&#10;AI-generated content may be incorrect.">
            <a:extLst>
              <a:ext uri="{FF2B5EF4-FFF2-40B4-BE49-F238E27FC236}">
                <a16:creationId xmlns:a16="http://schemas.microsoft.com/office/drawing/2014/main" id="{79149618-2639-98D7-FE02-A3B3047DB3E1}"/>
              </a:ext>
            </a:extLst>
          </p:cNvPr>
          <p:cNvPicPr>
            <a:picLocks noChangeAspect="1"/>
          </p:cNvPicPr>
          <p:nvPr/>
        </p:nvPicPr>
        <p:blipFill>
          <a:blip r:embed="rId2"/>
          <a:stretch>
            <a:fillRect/>
          </a:stretch>
        </p:blipFill>
        <p:spPr>
          <a:xfrm>
            <a:off x="4747314" y="1366345"/>
            <a:ext cx="7444686" cy="5415230"/>
          </a:xfrm>
          <a:prstGeom prst="rect">
            <a:avLst/>
          </a:prstGeom>
        </p:spPr>
      </p:pic>
      <p:pic>
        <p:nvPicPr>
          <p:cNvPr id="1026" name="Picture 2" descr="Refer to caption">
            <a:extLst>
              <a:ext uri="{FF2B5EF4-FFF2-40B4-BE49-F238E27FC236}">
                <a16:creationId xmlns:a16="http://schemas.microsoft.com/office/drawing/2014/main" id="{37B1523C-E288-DC22-326B-5CC4FF1147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43" t="4184" r="51254" b="6340"/>
          <a:stretch>
            <a:fillRect/>
          </a:stretch>
        </p:blipFill>
        <p:spPr bwMode="auto">
          <a:xfrm>
            <a:off x="217934" y="1948028"/>
            <a:ext cx="4529380" cy="399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875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C85B-6A21-ED6D-3742-8EFF3D952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91A1E-96BC-6D5C-CDF7-3766A9CE098B}"/>
              </a:ext>
            </a:extLst>
          </p:cNvPr>
          <p:cNvSpPr>
            <a:spLocks noGrp="1"/>
          </p:cNvSpPr>
          <p:nvPr>
            <p:ph type="title"/>
          </p:nvPr>
        </p:nvSpPr>
        <p:spPr>
          <a:xfrm>
            <a:off x="168165" y="554312"/>
            <a:ext cx="11698013" cy="738846"/>
          </a:xfrm>
        </p:spPr>
        <p:txBody>
          <a:bodyPr>
            <a:noAutofit/>
          </a:bodyPr>
          <a:lstStyle/>
          <a:p>
            <a:pPr algn="ctr"/>
            <a:r>
              <a:rPr lang="en-US" sz="2800" dirty="0"/>
              <a:t>We begin by replicating/recovering Lu et al assistant axis role methodologies. There is a PCA plot in that paper. We replicate that plot (a), and supplement it with a (b) 2D </a:t>
            </a:r>
            <a:r>
              <a:rPr lang="en-US" sz="2800" dirty="0" err="1"/>
              <a:t>tSNE</a:t>
            </a:r>
            <a:r>
              <a:rPr lang="en-US" sz="2800" dirty="0"/>
              <a:t> (c) 3D </a:t>
            </a:r>
            <a:r>
              <a:rPr lang="en-US" sz="2800" dirty="0" err="1"/>
              <a:t>tSNE</a:t>
            </a:r>
            <a:r>
              <a:rPr lang="en-US" sz="2800" dirty="0"/>
              <a:t> plot</a:t>
            </a:r>
          </a:p>
        </p:txBody>
      </p:sp>
      <p:pic>
        <p:nvPicPr>
          <p:cNvPr id="4" name="Picture 3" descr="A graph of a graph with dots and circles&#10;&#10;AI-generated content may be incorrect.">
            <a:extLst>
              <a:ext uri="{FF2B5EF4-FFF2-40B4-BE49-F238E27FC236}">
                <a16:creationId xmlns:a16="http://schemas.microsoft.com/office/drawing/2014/main" id="{C8EFA6D1-C20E-5756-37E0-D135C7F4C373}"/>
              </a:ext>
            </a:extLst>
          </p:cNvPr>
          <p:cNvPicPr>
            <a:picLocks noChangeAspect="1"/>
          </p:cNvPicPr>
          <p:nvPr/>
        </p:nvPicPr>
        <p:blipFill>
          <a:blip r:embed="rId2"/>
          <a:stretch>
            <a:fillRect/>
          </a:stretch>
        </p:blipFill>
        <p:spPr>
          <a:xfrm>
            <a:off x="5323360" y="1734671"/>
            <a:ext cx="6868640" cy="5123329"/>
          </a:xfrm>
          <a:prstGeom prst="rect">
            <a:avLst/>
          </a:prstGeom>
        </p:spPr>
      </p:pic>
      <p:pic>
        <p:nvPicPr>
          <p:cNvPr id="6" name="Picture 5" descr="A diagram of different colored circles&#10;&#10;AI-generated content may be incorrect.">
            <a:extLst>
              <a:ext uri="{FF2B5EF4-FFF2-40B4-BE49-F238E27FC236}">
                <a16:creationId xmlns:a16="http://schemas.microsoft.com/office/drawing/2014/main" id="{9D7A2B4A-ABA7-C8B5-21DD-399A6EE5611A}"/>
              </a:ext>
            </a:extLst>
          </p:cNvPr>
          <p:cNvPicPr>
            <a:picLocks noChangeAspect="1"/>
          </p:cNvPicPr>
          <p:nvPr/>
        </p:nvPicPr>
        <p:blipFill>
          <a:blip r:embed="rId3"/>
          <a:srcRect r="16100"/>
          <a:stretch>
            <a:fillRect/>
          </a:stretch>
        </p:blipFill>
        <p:spPr>
          <a:xfrm>
            <a:off x="0" y="1734671"/>
            <a:ext cx="5617383" cy="4881282"/>
          </a:xfrm>
          <a:prstGeom prst="rect">
            <a:avLst/>
          </a:prstGeom>
        </p:spPr>
      </p:pic>
    </p:spTree>
    <p:extLst>
      <p:ext uri="{BB962C8B-B14F-4D97-AF65-F5344CB8AC3E}">
        <p14:creationId xmlns:p14="http://schemas.microsoft.com/office/powerpoint/2010/main" val="4096970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384A-D20F-9336-7BE6-13F5B663B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58198-521B-B1D8-F039-9E3FF55E54AC}"/>
              </a:ext>
            </a:extLst>
          </p:cNvPr>
          <p:cNvSpPr>
            <a:spLocks noGrp="1"/>
          </p:cNvSpPr>
          <p:nvPr>
            <p:ph type="title"/>
          </p:nvPr>
        </p:nvSpPr>
        <p:spPr>
          <a:xfrm>
            <a:off x="231228" y="298695"/>
            <a:ext cx="11729544" cy="738846"/>
          </a:xfrm>
        </p:spPr>
        <p:txBody>
          <a:bodyPr>
            <a:noAutofit/>
          </a:bodyPr>
          <a:lstStyle/>
          <a:p>
            <a:pPr algn="ctr"/>
            <a:r>
              <a:rPr lang="en-US" sz="2800" dirty="0"/>
              <a:t>Now, we look at the steering vectors from our methodology. Here is our PCA. </a:t>
            </a:r>
            <a:r>
              <a:rPr lang="en-US" sz="2800" dirty="0">
                <a:effectLst/>
              </a:rPr>
              <a:t>The main observation here is that less variance is explained across the first 3 PCs, and the intra-cluster variance between points is generally much higher.</a:t>
            </a:r>
            <a:endParaRPr lang="en-US" sz="2800" dirty="0"/>
          </a:p>
        </p:txBody>
      </p:sp>
      <p:pic>
        <p:nvPicPr>
          <p:cNvPr id="5" name="Picture 4" descr="A screen shot of a graph&#10;&#10;AI-generated content may be incorrect.">
            <a:extLst>
              <a:ext uri="{FF2B5EF4-FFF2-40B4-BE49-F238E27FC236}">
                <a16:creationId xmlns:a16="http://schemas.microsoft.com/office/drawing/2014/main" id="{6B1455FF-479C-C36B-AF81-DFC25F700BA2}"/>
              </a:ext>
            </a:extLst>
          </p:cNvPr>
          <p:cNvPicPr>
            <a:picLocks noChangeAspect="1"/>
          </p:cNvPicPr>
          <p:nvPr/>
        </p:nvPicPr>
        <p:blipFill>
          <a:blip r:embed="rId2"/>
          <a:stretch>
            <a:fillRect/>
          </a:stretch>
        </p:blipFill>
        <p:spPr>
          <a:xfrm>
            <a:off x="0" y="1267296"/>
            <a:ext cx="7326447" cy="5590704"/>
          </a:xfrm>
          <a:prstGeom prst="rect">
            <a:avLst/>
          </a:prstGeom>
        </p:spPr>
      </p:pic>
      <p:pic>
        <p:nvPicPr>
          <p:cNvPr id="7" name="Picture 6" descr="A screen shot of a graph&#10;&#10;AI-generated content may be incorrect.">
            <a:extLst>
              <a:ext uri="{FF2B5EF4-FFF2-40B4-BE49-F238E27FC236}">
                <a16:creationId xmlns:a16="http://schemas.microsoft.com/office/drawing/2014/main" id="{1C30D5AF-5673-2F41-BA63-40CD60A02FCC}"/>
              </a:ext>
            </a:extLst>
          </p:cNvPr>
          <p:cNvPicPr>
            <a:picLocks noChangeAspect="1"/>
          </p:cNvPicPr>
          <p:nvPr/>
        </p:nvPicPr>
        <p:blipFill>
          <a:blip r:embed="rId3"/>
          <a:srcRect l="3888" r="20276"/>
          <a:stretch>
            <a:fillRect/>
          </a:stretch>
        </p:blipFill>
        <p:spPr>
          <a:xfrm>
            <a:off x="7028330" y="1675470"/>
            <a:ext cx="5163670" cy="4952775"/>
          </a:xfrm>
          <a:prstGeom prst="rect">
            <a:avLst/>
          </a:prstGeom>
        </p:spPr>
      </p:pic>
    </p:spTree>
    <p:extLst>
      <p:ext uri="{BB962C8B-B14F-4D97-AF65-F5344CB8AC3E}">
        <p14:creationId xmlns:p14="http://schemas.microsoft.com/office/powerpoint/2010/main" val="2464188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C094-F81B-0C60-C006-03806A173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A089D-993B-584C-F692-9AB6F7DAC8B4}"/>
              </a:ext>
            </a:extLst>
          </p:cNvPr>
          <p:cNvSpPr>
            <a:spLocks noGrp="1"/>
          </p:cNvSpPr>
          <p:nvPr>
            <p:ph type="title"/>
          </p:nvPr>
        </p:nvSpPr>
        <p:spPr>
          <a:xfrm>
            <a:off x="838200" y="365126"/>
            <a:ext cx="10515600" cy="738846"/>
          </a:xfrm>
        </p:spPr>
        <p:txBody>
          <a:bodyPr>
            <a:noAutofit/>
          </a:bodyPr>
          <a:lstStyle/>
          <a:p>
            <a:r>
              <a:rPr lang="en-US" sz="1600" dirty="0"/>
              <a:t>b) </a:t>
            </a:r>
            <a:r>
              <a:rPr lang="en-US" sz="1600" dirty="0" err="1"/>
              <a:t>tSNE</a:t>
            </a:r>
            <a:r>
              <a:rPr lang="en-US" sz="1600" dirty="0"/>
              <a:t> -- </a:t>
            </a:r>
            <a:r>
              <a:rPr lang="en-US" sz="1600" i="1" dirty="0">
                <a:effectLst/>
              </a:rPr>
              <a:t>So right now, the observation is that our </a:t>
            </a:r>
            <a:r>
              <a:rPr lang="en-US" sz="1600" i="1" dirty="0" err="1">
                <a:effectLst/>
              </a:rPr>
              <a:t>tSNE</a:t>
            </a:r>
            <a:r>
              <a:rPr lang="en-US" sz="1600" i="1" dirty="0">
                <a:effectLst/>
              </a:rPr>
              <a:t> plot has higher intra-cluster variance: we can separate out the "fantastical/mythical" stuff better than Lu et. al. in the Assistant Axis paper</a:t>
            </a:r>
            <a:endParaRPr lang="en-US" sz="1600" dirty="0"/>
          </a:p>
        </p:txBody>
      </p:sp>
      <p:pic>
        <p:nvPicPr>
          <p:cNvPr id="8" name="Picture 7" descr="A map of different colored dots&#10;&#10;AI-generated content may be incorrect.">
            <a:extLst>
              <a:ext uri="{FF2B5EF4-FFF2-40B4-BE49-F238E27FC236}">
                <a16:creationId xmlns:a16="http://schemas.microsoft.com/office/drawing/2014/main" id="{86F0DD7B-58C5-B895-5381-DE1D1811AF37}"/>
              </a:ext>
            </a:extLst>
          </p:cNvPr>
          <p:cNvPicPr>
            <a:picLocks noChangeAspect="1"/>
          </p:cNvPicPr>
          <p:nvPr/>
        </p:nvPicPr>
        <p:blipFill>
          <a:blip r:embed="rId2"/>
          <a:stretch>
            <a:fillRect/>
          </a:stretch>
        </p:blipFill>
        <p:spPr>
          <a:xfrm>
            <a:off x="2209800" y="1218735"/>
            <a:ext cx="7772400" cy="5505450"/>
          </a:xfrm>
          <a:prstGeom prst="rect">
            <a:avLst/>
          </a:prstGeom>
        </p:spPr>
      </p:pic>
    </p:spTree>
    <p:extLst>
      <p:ext uri="{BB962C8B-B14F-4D97-AF65-F5344CB8AC3E}">
        <p14:creationId xmlns:p14="http://schemas.microsoft.com/office/powerpoint/2010/main" val="4265778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33BD-51DF-C60F-EDB5-5ED544947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92C3D-3C68-5F8E-76D9-E17AA37BE8B3}"/>
              </a:ext>
            </a:extLst>
          </p:cNvPr>
          <p:cNvSpPr>
            <a:spLocks noGrp="1"/>
          </p:cNvSpPr>
          <p:nvPr>
            <p:ph type="title"/>
          </p:nvPr>
        </p:nvSpPr>
        <p:spPr>
          <a:xfrm>
            <a:off x="838200" y="365126"/>
            <a:ext cx="10515600" cy="738846"/>
          </a:xfrm>
        </p:spPr>
        <p:txBody>
          <a:bodyPr>
            <a:noAutofit/>
          </a:bodyPr>
          <a:lstStyle/>
          <a:p>
            <a:r>
              <a:rPr lang="en-US" sz="1600" dirty="0"/>
              <a:t>c) PCA -- but when you set the first axis to explicitly be the assistant-axis (and let PC1 and PC2 be axis2/3, resp.)</a:t>
            </a:r>
            <a:br>
              <a:rPr lang="en-US" sz="1600" dirty="0"/>
            </a:br>
            <a:r>
              <a:rPr lang="en-US" sz="1600" i="1" dirty="0">
                <a:effectLst/>
              </a:rPr>
              <a:t>This plot seems to resemble the PCA in Assistant Axis (Figure 1a above) a lot </a:t>
            </a:r>
            <a:endParaRPr lang="en-US" sz="1600" dirty="0"/>
          </a:p>
        </p:txBody>
      </p:sp>
      <p:sp>
        <p:nvSpPr>
          <p:cNvPr id="9" name="TextBox 8">
            <a:extLst>
              <a:ext uri="{FF2B5EF4-FFF2-40B4-BE49-F238E27FC236}">
                <a16:creationId xmlns:a16="http://schemas.microsoft.com/office/drawing/2014/main" id="{60CD39E1-897A-A842-5DF3-1981938C3557}"/>
              </a:ext>
            </a:extLst>
          </p:cNvPr>
          <p:cNvSpPr txBox="1"/>
          <p:nvPr/>
        </p:nvSpPr>
        <p:spPr>
          <a:xfrm>
            <a:off x="10259122" y="3267307"/>
            <a:ext cx="184731" cy="369332"/>
          </a:xfrm>
          <a:prstGeom prst="rect">
            <a:avLst/>
          </a:prstGeom>
          <a:noFill/>
        </p:spPr>
        <p:txBody>
          <a:bodyPr wrap="none" rtlCol="0">
            <a:spAutoFit/>
          </a:bodyPr>
          <a:lstStyle/>
          <a:p>
            <a:endParaRPr lang="en-US" dirty="0"/>
          </a:p>
        </p:txBody>
      </p:sp>
      <p:pic>
        <p:nvPicPr>
          <p:cNvPr id="4" name="Picture 3" descr="A screen shot of a graph&#10;&#10;AI-generated content may be incorrect.">
            <a:extLst>
              <a:ext uri="{FF2B5EF4-FFF2-40B4-BE49-F238E27FC236}">
                <a16:creationId xmlns:a16="http://schemas.microsoft.com/office/drawing/2014/main" id="{9567397A-3FB1-D2A4-58E8-8A3B3222737D}"/>
              </a:ext>
            </a:extLst>
          </p:cNvPr>
          <p:cNvPicPr>
            <a:picLocks noChangeAspect="1"/>
          </p:cNvPicPr>
          <p:nvPr/>
        </p:nvPicPr>
        <p:blipFill>
          <a:blip r:embed="rId2"/>
          <a:stretch>
            <a:fillRect/>
          </a:stretch>
        </p:blipFill>
        <p:spPr>
          <a:xfrm>
            <a:off x="2209800" y="1103972"/>
            <a:ext cx="7772400" cy="5683827"/>
          </a:xfrm>
          <a:prstGeom prst="rect">
            <a:avLst/>
          </a:prstGeom>
        </p:spPr>
      </p:pic>
    </p:spTree>
    <p:extLst>
      <p:ext uri="{BB962C8B-B14F-4D97-AF65-F5344CB8AC3E}">
        <p14:creationId xmlns:p14="http://schemas.microsoft.com/office/powerpoint/2010/main" val="365819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4431-7FA0-9322-0A2B-54E404558D52}"/>
              </a:ext>
            </a:extLst>
          </p:cNvPr>
          <p:cNvSpPr>
            <a:spLocks noGrp="1"/>
          </p:cNvSpPr>
          <p:nvPr>
            <p:ph type="title"/>
          </p:nvPr>
        </p:nvSpPr>
        <p:spPr>
          <a:xfrm>
            <a:off x="838200" y="365126"/>
            <a:ext cx="10515600" cy="315912"/>
          </a:xfrm>
        </p:spPr>
        <p:txBody>
          <a:bodyPr>
            <a:normAutofit fontScale="90000"/>
          </a:bodyPr>
          <a:lstStyle/>
          <a:p>
            <a:r>
              <a:rPr lang="en-US" dirty="0"/>
              <a:t>Comparison of the variance explained by the PCs</a:t>
            </a:r>
          </a:p>
        </p:txBody>
      </p:sp>
      <p:pic>
        <p:nvPicPr>
          <p:cNvPr id="5" name="Content Placeholder 4" descr="A graph of a graph showing the difference between two people&#10;&#10;AI-generated content may be incorrect.">
            <a:extLst>
              <a:ext uri="{FF2B5EF4-FFF2-40B4-BE49-F238E27FC236}">
                <a16:creationId xmlns:a16="http://schemas.microsoft.com/office/drawing/2014/main" id="{39D6D9CD-E3AE-F18A-AE28-096B2E021AEB}"/>
              </a:ext>
            </a:extLst>
          </p:cNvPr>
          <p:cNvPicPr>
            <a:picLocks noGrp="1" noChangeAspect="1"/>
          </p:cNvPicPr>
          <p:nvPr>
            <p:ph idx="1"/>
          </p:nvPr>
        </p:nvPicPr>
        <p:blipFill>
          <a:blip r:embed="rId2"/>
          <a:stretch>
            <a:fillRect/>
          </a:stretch>
        </p:blipFill>
        <p:spPr>
          <a:xfrm>
            <a:off x="1701385" y="1825625"/>
            <a:ext cx="8789230" cy="4351338"/>
          </a:xfrm>
          <a:prstGeom prst="rect">
            <a:avLst/>
          </a:prstGeom>
        </p:spPr>
      </p:pic>
    </p:spTree>
    <p:extLst>
      <p:ext uri="{BB962C8B-B14F-4D97-AF65-F5344CB8AC3E}">
        <p14:creationId xmlns:p14="http://schemas.microsoft.com/office/powerpoint/2010/main" val="3738771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graph of a graph with many dots&#10;&#10;AI-generated content may be incorrect.">
            <a:extLst>
              <a:ext uri="{FF2B5EF4-FFF2-40B4-BE49-F238E27FC236}">
                <a16:creationId xmlns:a16="http://schemas.microsoft.com/office/drawing/2014/main" id="{C34F9C6D-7B33-D2BC-1D5C-9662FA1CD37C}"/>
              </a:ext>
            </a:extLst>
          </p:cNvPr>
          <p:cNvPicPr>
            <a:picLocks noGrp="1" noChangeAspect="1"/>
          </p:cNvPicPr>
          <p:nvPr>
            <p:ph idx="1"/>
          </p:nvPr>
        </p:nvPicPr>
        <p:blipFill>
          <a:blip r:embed="rId2"/>
          <a:stretch>
            <a:fillRect/>
          </a:stretch>
        </p:blipFill>
        <p:spPr>
          <a:xfrm>
            <a:off x="109221" y="1210896"/>
            <a:ext cx="5837175" cy="4155484"/>
          </a:xfrm>
          <a:prstGeom prst="rect">
            <a:avLst/>
          </a:prstGeom>
        </p:spPr>
      </p:pic>
      <p:pic>
        <p:nvPicPr>
          <p:cNvPr id="13" name="Picture 12" descr="A graph with many dots&#10;&#10;AI-generated content may be incorrect.">
            <a:extLst>
              <a:ext uri="{FF2B5EF4-FFF2-40B4-BE49-F238E27FC236}">
                <a16:creationId xmlns:a16="http://schemas.microsoft.com/office/drawing/2014/main" id="{4E2D341C-9EA2-3BC5-1E07-C70C8367EA0C}"/>
              </a:ext>
            </a:extLst>
          </p:cNvPr>
          <p:cNvPicPr>
            <a:picLocks noChangeAspect="1"/>
          </p:cNvPicPr>
          <p:nvPr/>
        </p:nvPicPr>
        <p:blipFill>
          <a:blip r:embed="rId3"/>
          <a:stretch>
            <a:fillRect/>
          </a:stretch>
        </p:blipFill>
        <p:spPr>
          <a:xfrm>
            <a:off x="6245605" y="1070534"/>
            <a:ext cx="5739546" cy="4436208"/>
          </a:xfrm>
          <a:prstGeom prst="rect">
            <a:avLst/>
          </a:prstGeom>
        </p:spPr>
      </p:pic>
    </p:spTree>
    <p:extLst>
      <p:ext uri="{BB962C8B-B14F-4D97-AF65-F5344CB8AC3E}">
        <p14:creationId xmlns:p14="http://schemas.microsoft.com/office/powerpoint/2010/main" val="490068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of different colored dots&#10;&#10;AI-generated content may be incorrect.">
            <a:extLst>
              <a:ext uri="{FF2B5EF4-FFF2-40B4-BE49-F238E27FC236}">
                <a16:creationId xmlns:a16="http://schemas.microsoft.com/office/drawing/2014/main" id="{5913A052-5DEE-5A1A-C8B8-5F065D2BD321}"/>
              </a:ext>
            </a:extLst>
          </p:cNvPr>
          <p:cNvPicPr>
            <a:picLocks noChangeAspect="1"/>
          </p:cNvPicPr>
          <p:nvPr/>
        </p:nvPicPr>
        <p:blipFill>
          <a:blip r:embed="rId2"/>
          <a:stretch>
            <a:fillRect/>
          </a:stretch>
        </p:blipFill>
        <p:spPr>
          <a:xfrm>
            <a:off x="-1" y="546"/>
            <a:ext cx="12192973" cy="6857454"/>
          </a:xfrm>
          <a:prstGeom prst="rect">
            <a:avLst/>
          </a:prstGeom>
        </p:spPr>
      </p:pic>
    </p:spTree>
    <p:extLst>
      <p:ext uri="{BB962C8B-B14F-4D97-AF65-F5344CB8AC3E}">
        <p14:creationId xmlns:p14="http://schemas.microsoft.com/office/powerpoint/2010/main" val="642259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graph with many dots&#10;&#10;AI-generated content may be incorrect.">
            <a:extLst>
              <a:ext uri="{FF2B5EF4-FFF2-40B4-BE49-F238E27FC236}">
                <a16:creationId xmlns:a16="http://schemas.microsoft.com/office/drawing/2014/main" id="{8810DB19-38A3-8F25-CCCA-D907909D0F51}"/>
              </a:ext>
            </a:extLst>
          </p:cNvPr>
          <p:cNvPicPr>
            <a:picLocks noChangeAspect="1"/>
          </p:cNvPicPr>
          <p:nvPr/>
        </p:nvPicPr>
        <p:blipFill>
          <a:blip r:embed="rId2"/>
          <a:stretch>
            <a:fillRect/>
          </a:stretch>
        </p:blipFill>
        <p:spPr>
          <a:xfrm>
            <a:off x="0" y="1572768"/>
            <a:ext cx="6571579" cy="5104200"/>
          </a:xfrm>
          <a:prstGeom prst="rect">
            <a:avLst/>
          </a:prstGeom>
        </p:spPr>
      </p:pic>
      <p:pic>
        <p:nvPicPr>
          <p:cNvPr id="7" name="Picture 6" descr="A graph of a graph with many dots&#10;&#10;AI-generated content may be incorrect.">
            <a:extLst>
              <a:ext uri="{FF2B5EF4-FFF2-40B4-BE49-F238E27FC236}">
                <a16:creationId xmlns:a16="http://schemas.microsoft.com/office/drawing/2014/main" id="{81296B3D-00C2-3980-1853-7364587C808A}"/>
              </a:ext>
            </a:extLst>
          </p:cNvPr>
          <p:cNvPicPr>
            <a:picLocks noChangeAspect="1"/>
          </p:cNvPicPr>
          <p:nvPr/>
        </p:nvPicPr>
        <p:blipFill>
          <a:blip r:embed="rId3"/>
          <a:stretch>
            <a:fillRect/>
          </a:stretch>
        </p:blipFill>
        <p:spPr>
          <a:xfrm>
            <a:off x="5862978" y="1572768"/>
            <a:ext cx="6329022" cy="4809246"/>
          </a:xfrm>
          <a:prstGeom prst="rect">
            <a:avLst/>
          </a:prstGeom>
        </p:spPr>
      </p:pic>
    </p:spTree>
    <p:extLst>
      <p:ext uri="{BB962C8B-B14F-4D97-AF65-F5344CB8AC3E}">
        <p14:creationId xmlns:p14="http://schemas.microsoft.com/office/powerpoint/2010/main" val="764184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a:extLst>
              <a:ext uri="{FF2B5EF4-FFF2-40B4-BE49-F238E27FC236}">
                <a16:creationId xmlns:a16="http://schemas.microsoft.com/office/drawing/2014/main" id="{98EEF5E5-1D56-025F-B1FC-37E3D1B71340}"/>
              </a:ext>
            </a:extLst>
          </p:cNvPr>
          <p:cNvPicPr>
            <a:picLocks noChangeAspect="1"/>
          </p:cNvPicPr>
          <p:nvPr/>
        </p:nvPicPr>
        <p:blipFill>
          <a:blip r:embed="rId2"/>
          <a:stretch>
            <a:fillRect/>
          </a:stretch>
        </p:blipFill>
        <p:spPr>
          <a:xfrm>
            <a:off x="518856" y="0"/>
            <a:ext cx="11154288" cy="6858000"/>
          </a:xfrm>
          <a:prstGeom prst="rect">
            <a:avLst/>
          </a:prstGeom>
        </p:spPr>
      </p:pic>
    </p:spTree>
    <p:extLst>
      <p:ext uri="{BB962C8B-B14F-4D97-AF65-F5344CB8AC3E}">
        <p14:creationId xmlns:p14="http://schemas.microsoft.com/office/powerpoint/2010/main" val="3621287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27402-5444-1B83-54DA-CCF31594221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500" kern="1200">
                <a:solidFill>
                  <a:srgbClr val="FFFFFF"/>
                </a:solidFill>
                <a:latin typeface="+mj-lt"/>
                <a:ea typeface="+mj-ea"/>
                <a:cs typeface="+mj-cs"/>
              </a:rPr>
              <a:t>We run PCA of traits with vectors, and the top 10 traits that correlate the most with the PCs</a:t>
            </a:r>
          </a:p>
        </p:txBody>
      </p:sp>
      <p:pic>
        <p:nvPicPr>
          <p:cNvPr id="5" name="Content Placeholder 4" descr="A screenshot of a graph&#10;&#10;AI-generated content may be incorrect.">
            <a:extLst>
              <a:ext uri="{FF2B5EF4-FFF2-40B4-BE49-F238E27FC236}">
                <a16:creationId xmlns:a16="http://schemas.microsoft.com/office/drawing/2014/main" id="{6A3D1A7C-905E-0567-7345-979F56F98AA3}"/>
              </a:ext>
            </a:extLst>
          </p:cNvPr>
          <p:cNvPicPr>
            <a:picLocks noGrp="1" noChangeAspect="1"/>
          </p:cNvPicPr>
          <p:nvPr>
            <p:ph idx="1"/>
          </p:nvPr>
        </p:nvPicPr>
        <p:blipFill>
          <a:blip r:embed="rId2"/>
          <a:stretch>
            <a:fillRect/>
          </a:stretch>
        </p:blipFill>
        <p:spPr>
          <a:xfrm>
            <a:off x="4294856" y="615643"/>
            <a:ext cx="7897144" cy="5626713"/>
          </a:xfrm>
          <a:prstGeom prst="rect">
            <a:avLst/>
          </a:prstGeom>
        </p:spPr>
      </p:pic>
    </p:spTree>
    <p:extLst>
      <p:ext uri="{BB962C8B-B14F-4D97-AF65-F5344CB8AC3E}">
        <p14:creationId xmlns:p14="http://schemas.microsoft.com/office/powerpoint/2010/main" val="884538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7637A4A-5BD5-180A-E195-78E01408B92C}"/>
              </a:ext>
            </a:extLst>
          </p:cNvPr>
          <p:cNvSpPr>
            <a:spLocks noGrp="1"/>
          </p:cNvSpPr>
          <p:nvPr>
            <p:ph type="title"/>
          </p:nvPr>
        </p:nvSpPr>
        <p:spPr>
          <a:xfrm>
            <a:off x="304801" y="1141711"/>
            <a:ext cx="3234466" cy="3474364"/>
          </a:xfrm>
        </p:spPr>
        <p:txBody>
          <a:bodyPr vert="horz" lIns="91440" tIns="45720" rIns="91440" bIns="45720" rtlCol="0" anchor="t">
            <a:normAutofit/>
          </a:bodyPr>
          <a:lstStyle/>
          <a:p>
            <a:r>
              <a:rPr lang="en-US" sz="2000" kern="1200" dirty="0">
                <a:solidFill>
                  <a:schemeClr val="tx1"/>
                </a:solidFill>
                <a:latin typeface="+mj-lt"/>
                <a:ea typeface="+mj-ea"/>
                <a:cs typeface="+mj-cs"/>
              </a:rPr>
              <a:t>Now, we can also associate the axes of emotions/traits with the corresponding PC’s that they correlate with. </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For any 3 traits, we can define a </a:t>
            </a:r>
            <a:r>
              <a:rPr lang="en-US" sz="2000" kern="1200" dirty="0" err="1">
                <a:solidFill>
                  <a:schemeClr val="tx1"/>
                </a:solidFill>
                <a:latin typeface="+mj-lt"/>
                <a:ea typeface="+mj-ea"/>
                <a:cs typeface="+mj-cs"/>
              </a:rPr>
              <a:t>x,y,z</a:t>
            </a:r>
            <a:r>
              <a:rPr lang="en-US" sz="2000" kern="1200" dirty="0">
                <a:solidFill>
                  <a:schemeClr val="tx1"/>
                </a:solidFill>
                <a:latin typeface="+mj-lt"/>
                <a:ea typeface="+mj-ea"/>
                <a:cs typeface="+mj-cs"/>
              </a:rPr>
              <a:t> axis and plot the roles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Plotted all the roles for sets of 3 traits.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Here are some of them -- Happy to plot more if there are combinations folks are interested in.</a:t>
            </a:r>
          </a:p>
        </p:txBody>
      </p:sp>
      <p:cxnSp>
        <p:nvCxnSpPr>
          <p:cNvPr id="15" name="Straight Connector 14">
            <a:extLst>
              <a:ext uri="{FF2B5EF4-FFF2-40B4-BE49-F238E27FC236}">
                <a16:creationId xmlns:a16="http://schemas.microsoft.com/office/drawing/2014/main" id="{33193FD5-6A49-7562-EA76-F15D42E158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Content Placeholder 9" descr="A graph of different colored dots&#10;&#10;AI-generated content may be incorrect.">
            <a:extLst>
              <a:ext uri="{FF2B5EF4-FFF2-40B4-BE49-F238E27FC236}">
                <a16:creationId xmlns:a16="http://schemas.microsoft.com/office/drawing/2014/main" id="{7CD79726-50F8-17C5-91C9-0903459C4888}"/>
              </a:ext>
            </a:extLst>
          </p:cNvPr>
          <p:cNvPicPr>
            <a:picLocks noGrp="1" noChangeAspect="1"/>
          </p:cNvPicPr>
          <p:nvPr>
            <p:ph idx="1"/>
          </p:nvPr>
        </p:nvPicPr>
        <p:blipFill>
          <a:blip r:embed="rId2"/>
          <a:srcRect l="8968" r="4474"/>
          <a:stretch>
            <a:fillRect/>
          </a:stretch>
        </p:blipFill>
        <p:spPr>
          <a:xfrm>
            <a:off x="4004301" y="-1"/>
            <a:ext cx="8187699" cy="6857985"/>
          </a:xfrm>
          <a:prstGeom prst="rect">
            <a:avLst/>
          </a:prstGeom>
        </p:spPr>
      </p:pic>
      <p:sp>
        <p:nvSpPr>
          <p:cNvPr id="11" name="TextBox 10">
            <a:extLst>
              <a:ext uri="{FF2B5EF4-FFF2-40B4-BE49-F238E27FC236}">
                <a16:creationId xmlns:a16="http://schemas.microsoft.com/office/drawing/2014/main" id="{33507CB9-16A0-EBBE-3B93-741237C2AE28}"/>
              </a:ext>
            </a:extLst>
          </p:cNvPr>
          <p:cNvSpPr txBox="1"/>
          <p:nvPr/>
        </p:nvSpPr>
        <p:spPr>
          <a:xfrm>
            <a:off x="1290918" y="874059"/>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3431952C-DF07-BD50-EB00-90671032B017}"/>
              </a:ext>
            </a:extLst>
          </p:cNvPr>
          <p:cNvSpPr txBox="1"/>
          <p:nvPr/>
        </p:nvSpPr>
        <p:spPr>
          <a:xfrm>
            <a:off x="5049030" y="285668"/>
            <a:ext cx="6098240" cy="369332"/>
          </a:xfrm>
          <a:prstGeom prst="rect">
            <a:avLst/>
          </a:prstGeom>
          <a:noFill/>
        </p:spPr>
        <p:txBody>
          <a:bodyPr wrap="square">
            <a:spAutoFit/>
          </a:bodyPr>
          <a:lstStyle/>
          <a:p>
            <a:r>
              <a:rPr lang="en-US" sz="1800" b="1" kern="1200" dirty="0">
                <a:solidFill>
                  <a:schemeClr val="tx1"/>
                </a:solidFill>
                <a:latin typeface="+mj-lt"/>
                <a:ea typeface="+mj-ea"/>
                <a:cs typeface="+mj-cs"/>
              </a:rPr>
              <a:t>Enigmatic vs Manipulative vs Sycophantic</a:t>
            </a:r>
            <a:endParaRPr lang="en-US" b="1" dirty="0"/>
          </a:p>
        </p:txBody>
      </p:sp>
    </p:spTree>
    <p:extLst>
      <p:ext uri="{BB962C8B-B14F-4D97-AF65-F5344CB8AC3E}">
        <p14:creationId xmlns:p14="http://schemas.microsoft.com/office/powerpoint/2010/main" val="2556556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8FA9E36-2051-B806-E5BE-C2808B2F8C5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0403F4-95E2-1748-300B-ED9470461BFD}"/>
              </a:ext>
            </a:extLst>
          </p:cNvPr>
          <p:cNvSpPr>
            <a:spLocks noGrp="1"/>
          </p:cNvSpPr>
          <p:nvPr>
            <p:ph type="title"/>
          </p:nvPr>
        </p:nvSpPr>
        <p:spPr>
          <a:xfrm>
            <a:off x="304801" y="1141711"/>
            <a:ext cx="3234466" cy="3474364"/>
          </a:xfrm>
        </p:spPr>
        <p:txBody>
          <a:bodyPr vert="horz" lIns="91440" tIns="45720" rIns="91440" bIns="45720" rtlCol="0" anchor="t">
            <a:normAutofit/>
          </a:bodyPr>
          <a:lstStyle/>
          <a:p>
            <a:r>
              <a:rPr lang="en-US" sz="2000" kern="1200" dirty="0">
                <a:solidFill>
                  <a:schemeClr val="tx1"/>
                </a:solidFill>
                <a:latin typeface="+mj-lt"/>
                <a:ea typeface="+mj-ea"/>
                <a:cs typeface="+mj-cs"/>
              </a:rPr>
              <a:t>Now, we can also associate the axes of emotions/traits with the corresponding PC’s that they correlate with. </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For any 3 traits, we can define a </a:t>
            </a:r>
            <a:r>
              <a:rPr lang="en-US" sz="2000" kern="1200" dirty="0" err="1">
                <a:solidFill>
                  <a:schemeClr val="tx1"/>
                </a:solidFill>
                <a:latin typeface="+mj-lt"/>
                <a:ea typeface="+mj-ea"/>
                <a:cs typeface="+mj-cs"/>
              </a:rPr>
              <a:t>x,y,z</a:t>
            </a:r>
            <a:r>
              <a:rPr lang="en-US" sz="2000" kern="1200" dirty="0">
                <a:solidFill>
                  <a:schemeClr val="tx1"/>
                </a:solidFill>
                <a:latin typeface="+mj-lt"/>
                <a:ea typeface="+mj-ea"/>
                <a:cs typeface="+mj-cs"/>
              </a:rPr>
              <a:t> axis and plot the roles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Plotted all the roles for sets of 3 traits.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Here are some of them -- Happy to plot more if there are combinations folks are interested in.</a:t>
            </a:r>
          </a:p>
        </p:txBody>
      </p:sp>
      <p:cxnSp>
        <p:nvCxnSpPr>
          <p:cNvPr id="15" name="Straight Connector 14">
            <a:extLst>
              <a:ext uri="{FF2B5EF4-FFF2-40B4-BE49-F238E27FC236}">
                <a16:creationId xmlns:a16="http://schemas.microsoft.com/office/drawing/2014/main" id="{A4AC10A8-46F2-8E61-40EA-FAC4DF0679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Content Placeholder 9">
            <a:extLst>
              <a:ext uri="{FF2B5EF4-FFF2-40B4-BE49-F238E27FC236}">
                <a16:creationId xmlns:a16="http://schemas.microsoft.com/office/drawing/2014/main" id="{C087D98D-A694-8D28-7275-E4FB9996646E}"/>
              </a:ext>
            </a:extLst>
          </p:cNvPr>
          <p:cNvPicPr>
            <a:picLocks noGrp="1" noChangeAspect="1"/>
          </p:cNvPicPr>
          <p:nvPr>
            <p:ph idx="1"/>
          </p:nvPr>
        </p:nvPicPr>
        <p:blipFill>
          <a:blip r:embed="rId2"/>
          <a:srcRect l="6023" r="6023"/>
          <a:stretch/>
        </p:blipFill>
        <p:spPr>
          <a:xfrm>
            <a:off x="4004301" y="-1"/>
            <a:ext cx="8187699" cy="6857985"/>
          </a:xfrm>
          <a:prstGeom prst="rect">
            <a:avLst/>
          </a:prstGeom>
        </p:spPr>
      </p:pic>
      <p:sp>
        <p:nvSpPr>
          <p:cNvPr id="11" name="TextBox 10">
            <a:extLst>
              <a:ext uri="{FF2B5EF4-FFF2-40B4-BE49-F238E27FC236}">
                <a16:creationId xmlns:a16="http://schemas.microsoft.com/office/drawing/2014/main" id="{24B57C89-2D2C-7F8B-C5F8-A5A57AF778E1}"/>
              </a:ext>
            </a:extLst>
          </p:cNvPr>
          <p:cNvSpPr txBox="1"/>
          <p:nvPr/>
        </p:nvSpPr>
        <p:spPr>
          <a:xfrm>
            <a:off x="1290918" y="874059"/>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1EC11CBF-C46C-9955-B83A-526F3996BEEC}"/>
              </a:ext>
            </a:extLst>
          </p:cNvPr>
          <p:cNvSpPr txBox="1"/>
          <p:nvPr/>
        </p:nvSpPr>
        <p:spPr>
          <a:xfrm>
            <a:off x="6008035" y="207610"/>
            <a:ext cx="2767975" cy="369332"/>
          </a:xfrm>
          <a:prstGeom prst="rect">
            <a:avLst/>
          </a:prstGeom>
          <a:noFill/>
        </p:spPr>
        <p:txBody>
          <a:bodyPr wrap="square">
            <a:spAutoFit/>
          </a:bodyPr>
          <a:lstStyle/>
          <a:p>
            <a:r>
              <a:rPr lang="en-US" b="1" dirty="0">
                <a:latin typeface="+mj-lt"/>
                <a:ea typeface="+mj-ea"/>
                <a:cs typeface="+mj-cs"/>
              </a:rPr>
              <a:t>Critical vs Evil vs Serene</a:t>
            </a:r>
            <a:endParaRPr lang="en-US" b="1" dirty="0"/>
          </a:p>
        </p:txBody>
      </p:sp>
    </p:spTree>
    <p:extLst>
      <p:ext uri="{BB962C8B-B14F-4D97-AF65-F5344CB8AC3E}">
        <p14:creationId xmlns:p14="http://schemas.microsoft.com/office/powerpoint/2010/main" val="957147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730D1A-545C-0F12-52C5-1646D6B769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FA3588F-2080-5D18-7042-206039CDBDCC}"/>
              </a:ext>
            </a:extLst>
          </p:cNvPr>
          <p:cNvSpPr>
            <a:spLocks noGrp="1"/>
          </p:cNvSpPr>
          <p:nvPr>
            <p:ph type="title"/>
          </p:nvPr>
        </p:nvSpPr>
        <p:spPr>
          <a:xfrm>
            <a:off x="304801" y="1141711"/>
            <a:ext cx="3234466" cy="3474364"/>
          </a:xfrm>
        </p:spPr>
        <p:txBody>
          <a:bodyPr vert="horz" lIns="91440" tIns="45720" rIns="91440" bIns="45720" rtlCol="0" anchor="t">
            <a:normAutofit/>
          </a:bodyPr>
          <a:lstStyle/>
          <a:p>
            <a:r>
              <a:rPr lang="en-US" sz="2000" kern="1200" dirty="0">
                <a:solidFill>
                  <a:schemeClr val="tx1"/>
                </a:solidFill>
                <a:latin typeface="+mj-lt"/>
                <a:ea typeface="+mj-ea"/>
                <a:cs typeface="+mj-cs"/>
              </a:rPr>
              <a:t>Now, we can also associate the axes of emotions/traits with the corresponding PC’s that they correlate with. </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For any 3 traits, we can define a </a:t>
            </a:r>
            <a:r>
              <a:rPr lang="en-US" sz="2000" kern="1200" dirty="0" err="1">
                <a:solidFill>
                  <a:schemeClr val="tx1"/>
                </a:solidFill>
                <a:latin typeface="+mj-lt"/>
                <a:ea typeface="+mj-ea"/>
                <a:cs typeface="+mj-cs"/>
              </a:rPr>
              <a:t>x,y,z</a:t>
            </a:r>
            <a:r>
              <a:rPr lang="en-US" sz="2000" kern="1200" dirty="0">
                <a:solidFill>
                  <a:schemeClr val="tx1"/>
                </a:solidFill>
                <a:latin typeface="+mj-lt"/>
                <a:ea typeface="+mj-ea"/>
                <a:cs typeface="+mj-cs"/>
              </a:rPr>
              <a:t> axis and plot the roles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Plotted all the roles for sets of 3 traits.</a:t>
            </a:r>
            <a:br>
              <a:rPr lang="en-US" sz="2000" kern="1200" dirty="0">
                <a:solidFill>
                  <a:schemeClr val="tx1"/>
                </a:solidFill>
                <a:latin typeface="+mj-lt"/>
                <a:ea typeface="+mj-ea"/>
                <a:cs typeface="+mj-cs"/>
              </a:rPr>
            </a:br>
            <a:r>
              <a:rPr lang="en-US" sz="2000" kern="1200" dirty="0">
                <a:solidFill>
                  <a:schemeClr val="tx1"/>
                </a:solidFill>
                <a:latin typeface="+mj-lt"/>
                <a:ea typeface="+mj-ea"/>
                <a:cs typeface="+mj-cs"/>
              </a:rPr>
              <a:t>Here are some of them -- Happy to plot more if there are combinations folks are interested in.</a:t>
            </a:r>
          </a:p>
        </p:txBody>
      </p:sp>
      <p:cxnSp>
        <p:nvCxnSpPr>
          <p:cNvPr id="15" name="Straight Connector 14">
            <a:extLst>
              <a:ext uri="{FF2B5EF4-FFF2-40B4-BE49-F238E27FC236}">
                <a16:creationId xmlns:a16="http://schemas.microsoft.com/office/drawing/2014/main" id="{15E599DF-2967-0E4C-2B00-052332445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Content Placeholder 9">
            <a:extLst>
              <a:ext uri="{FF2B5EF4-FFF2-40B4-BE49-F238E27FC236}">
                <a16:creationId xmlns:a16="http://schemas.microsoft.com/office/drawing/2014/main" id="{555DF3D3-4CA7-F355-77BA-C52564C36D51}"/>
              </a:ext>
            </a:extLst>
          </p:cNvPr>
          <p:cNvPicPr>
            <a:picLocks noGrp="1" noChangeAspect="1"/>
          </p:cNvPicPr>
          <p:nvPr>
            <p:ph idx="1"/>
          </p:nvPr>
        </p:nvPicPr>
        <p:blipFill>
          <a:blip r:embed="rId2"/>
          <a:srcRect l="6271" r="6271"/>
          <a:stretch/>
        </p:blipFill>
        <p:spPr>
          <a:xfrm>
            <a:off x="4004301" y="-1"/>
            <a:ext cx="8187699" cy="6857985"/>
          </a:xfrm>
          <a:prstGeom prst="rect">
            <a:avLst/>
          </a:prstGeom>
        </p:spPr>
      </p:pic>
      <p:sp>
        <p:nvSpPr>
          <p:cNvPr id="11" name="TextBox 10">
            <a:extLst>
              <a:ext uri="{FF2B5EF4-FFF2-40B4-BE49-F238E27FC236}">
                <a16:creationId xmlns:a16="http://schemas.microsoft.com/office/drawing/2014/main" id="{F1F7E3BD-266F-6A75-BEB2-1323DCA9C221}"/>
              </a:ext>
            </a:extLst>
          </p:cNvPr>
          <p:cNvSpPr txBox="1"/>
          <p:nvPr/>
        </p:nvSpPr>
        <p:spPr>
          <a:xfrm>
            <a:off x="1290918" y="874059"/>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4495A67A-1152-3451-067F-A11F1E35D286}"/>
              </a:ext>
            </a:extLst>
          </p:cNvPr>
          <p:cNvSpPr txBox="1"/>
          <p:nvPr/>
        </p:nvSpPr>
        <p:spPr>
          <a:xfrm>
            <a:off x="5199017" y="207610"/>
            <a:ext cx="3997234" cy="369332"/>
          </a:xfrm>
          <a:prstGeom prst="rect">
            <a:avLst/>
          </a:prstGeom>
          <a:noFill/>
        </p:spPr>
        <p:txBody>
          <a:bodyPr wrap="square">
            <a:spAutoFit/>
          </a:bodyPr>
          <a:lstStyle/>
          <a:p>
            <a:pPr algn="ctr"/>
            <a:r>
              <a:rPr lang="en-US" b="1" dirty="0">
                <a:latin typeface="+mj-lt"/>
                <a:ea typeface="+mj-ea"/>
                <a:cs typeface="+mj-cs"/>
              </a:rPr>
              <a:t>Critical vs Erudite vs Philosophical</a:t>
            </a:r>
            <a:endParaRPr lang="en-US" b="1" dirty="0"/>
          </a:p>
        </p:txBody>
      </p:sp>
    </p:spTree>
    <p:extLst>
      <p:ext uri="{BB962C8B-B14F-4D97-AF65-F5344CB8AC3E}">
        <p14:creationId xmlns:p14="http://schemas.microsoft.com/office/powerpoint/2010/main" val="2288529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3AD9-25DE-D479-C02D-E7A94861B316}"/>
              </a:ext>
            </a:extLst>
          </p:cNvPr>
          <p:cNvSpPr>
            <a:spLocks noGrp="1"/>
          </p:cNvSpPr>
          <p:nvPr>
            <p:ph type="title"/>
          </p:nvPr>
        </p:nvSpPr>
        <p:spPr>
          <a:xfrm>
            <a:off x="6584" y="1142302"/>
            <a:ext cx="3310760" cy="4572000"/>
          </a:xfrm>
        </p:spPr>
        <p:txBody>
          <a:bodyPr>
            <a:noAutofit/>
          </a:bodyPr>
          <a:lstStyle/>
          <a:p>
            <a:pPr algn="ctr"/>
            <a:r>
              <a:rPr lang="en-US" sz="2800" dirty="0"/>
              <a:t>We use Claude to rank on a scale from [0,10] (inclusive, floats) how mystical each role was, and re-did the </a:t>
            </a:r>
            <a:r>
              <a:rPr lang="en-US" sz="2800" dirty="0" err="1"/>
              <a:t>tSNE</a:t>
            </a:r>
            <a:r>
              <a:rPr lang="en-US" sz="2800" dirty="0"/>
              <a:t>/PCA while coloring the points along this mystical axis.</a:t>
            </a:r>
          </a:p>
        </p:txBody>
      </p:sp>
      <p:pic>
        <p:nvPicPr>
          <p:cNvPr id="5" name="Content Placeholder 4" descr="A graph with many dots&#10;&#10;AI-generated content may be incorrect.">
            <a:extLst>
              <a:ext uri="{FF2B5EF4-FFF2-40B4-BE49-F238E27FC236}">
                <a16:creationId xmlns:a16="http://schemas.microsoft.com/office/drawing/2014/main" id="{C190253C-4E36-6B8E-2DB0-15BA3FC2BD33}"/>
              </a:ext>
            </a:extLst>
          </p:cNvPr>
          <p:cNvPicPr>
            <a:picLocks noGrp="1" noChangeAspect="1"/>
          </p:cNvPicPr>
          <p:nvPr>
            <p:ph idx="1"/>
          </p:nvPr>
        </p:nvPicPr>
        <p:blipFill>
          <a:blip r:embed="rId2"/>
          <a:stretch>
            <a:fillRect/>
          </a:stretch>
        </p:blipFill>
        <p:spPr>
          <a:xfrm>
            <a:off x="3317344" y="-1396"/>
            <a:ext cx="8874656" cy="6859396"/>
          </a:xfrm>
          <a:prstGeom prst="rect">
            <a:avLst/>
          </a:prstGeom>
        </p:spPr>
      </p:pic>
    </p:spTree>
    <p:extLst>
      <p:ext uri="{BB962C8B-B14F-4D97-AF65-F5344CB8AC3E}">
        <p14:creationId xmlns:p14="http://schemas.microsoft.com/office/powerpoint/2010/main" val="1847721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118</TotalTime>
  <Words>1183</Words>
  <Application>Microsoft Macintosh PowerPoint</Application>
  <PresentationFormat>Widescreen</PresentationFormat>
  <Paragraphs>77</Paragraphs>
  <Slides>24</Slides>
  <Notes>4</Notes>
  <HiddenSlides>3</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Aptos</vt:lpstr>
      <vt:lpstr>Aptos Display</vt:lpstr>
      <vt:lpstr>Arial</vt:lpstr>
      <vt:lpstr>Calibri</vt:lpstr>
      <vt:lpstr>Georgia</vt:lpstr>
      <vt:lpstr>Office Theme</vt:lpstr>
      <vt:lpstr>1_Office Theme</vt:lpstr>
      <vt:lpstr>PowerPoint Presentation</vt:lpstr>
      <vt:lpstr>Title: Fantastic Personas and Where to Find Them: Mapping the Geometry of Role Vectors in Activation Space </vt:lpstr>
      <vt:lpstr>PowerPoint Presentation</vt:lpstr>
      <vt:lpstr>PowerPoint Presentation</vt:lpstr>
      <vt:lpstr>PowerPoint Presentation</vt:lpstr>
      <vt:lpstr>PowerPoint Presentation</vt:lpstr>
      <vt:lpstr>PowerPoint Presentation</vt:lpstr>
      <vt:lpstr>Empirical top line results: we crushed the SOTA (Assistant Axis) and achieved the intended behavior</vt:lpstr>
      <vt:lpstr>Per-role Pairwise Win Rates Us (G) vs Them (R)</vt:lpstr>
      <vt:lpstr>We begin by replicating/recovering Lu et al assistant axis role methodologies. There is a PCA plot in that paper. We replicate that plot (a), and supplement it with a (b) 2D tSNE (c) 3D tSNE plot</vt:lpstr>
      <vt:lpstr>We begin by replicating/recovering Lu et al assistant axis role methodologies. There is a PCA plot in that paper. We replicate that plot (a), and supplement it with a (b) 2D tSNE (c) 3D tSNE plot</vt:lpstr>
      <vt:lpstr>Now, we look at the steering vectors from our methodology. Here is our PCA. The main observation here is that less variance is explained across the first 3 PCs, and the intra-cluster variance between points is generally much higher.</vt:lpstr>
      <vt:lpstr>b) tSNE -- So right now, the observation is that our tSNE plot has higher intra-cluster variance: we can separate out the "fantastical/mythical" stuff better than Lu et. al. in the Assistant Axis paper</vt:lpstr>
      <vt:lpstr>c) PCA -- but when you set the first axis to explicitly be the assistant-axis (and let PC1 and PC2 be axis2/3, resp.) This plot seems to resemble the PCA in Assistant Axis (Figure 1a above) a lot </vt:lpstr>
      <vt:lpstr>Comparison of the variance explained by the PCs</vt:lpstr>
      <vt:lpstr>PowerPoint Presentation</vt:lpstr>
      <vt:lpstr>PowerPoint Presentation</vt:lpstr>
      <vt:lpstr>PowerPoint Presentation</vt:lpstr>
      <vt:lpstr>PowerPoint Presentation</vt:lpstr>
      <vt:lpstr>We run PCA of traits with vectors, and the top 10 traits that correlate the most with the PCs</vt:lpstr>
      <vt:lpstr>Now, we can also associate the axes of emotions/traits with the corresponding PC’s that they correlate with.  For any 3 traits, we can define a x,y,z axis and plot the roles Plotted all the roles for sets of 3 traits. Here are some of them -- Happy to plot more if there are combinations folks are interested in.</vt:lpstr>
      <vt:lpstr>Now, we can also associate the axes of emotions/traits with the corresponding PC’s that they correlate with.  For any 3 traits, we can define a x,y,z axis and plot the roles Plotted all the roles for sets of 3 traits. Here are some of them -- Happy to plot more if there are combinations folks are interested in.</vt:lpstr>
      <vt:lpstr>Now, we can also associate the axes of emotions/traits with the corresponding PC’s that they correlate with.  For any 3 traits, we can define a x,y,z axis and plot the roles Plotted all the roles for sets of 3 traits. Here are some of them -- Happy to plot more if there are combinations folks are interested in.</vt:lpstr>
      <vt:lpstr>We use Claude to rank on a scale from [0,10] (inclusive, floats) how mystical each role was, and re-did the tSNE/PCA while coloring the points along this mystical axis.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Matlin, Glenn S</dc:creator>
  <cp:lastModifiedBy>Matlin, Glenn S</cp:lastModifiedBy>
  <cp:revision>1</cp:revision>
  <dcterms:created xsi:type="dcterms:W3CDTF">2026-03-27T17:16:46Z</dcterms:created>
  <dcterms:modified xsi:type="dcterms:W3CDTF">2026-03-27T19:15:18Z</dcterms:modified>
</cp:coreProperties>
</file>