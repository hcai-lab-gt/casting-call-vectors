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7721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Personality Vectors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Elicitation &amp; Evaluation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contrastive activation vectors to steer LLM behavior through role-aligned personas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process from role definition to empirical evaluation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8660" y="1554480"/>
            <a:ext cx="16916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8660" y="1554480"/>
            <a:ext cx="16916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4440" y="178308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184251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8660" y="2514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0100" y="2743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0100" y="32461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role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&amp; questions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020" y="2651760"/>
            <a:ext cx="228600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20340" y="1554480"/>
            <a:ext cx="16916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720340" y="1554480"/>
            <a:ext cx="169164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246120" y="178308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184251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20340" y="2514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2811780" y="2743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811780" y="32461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Role-prompted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answers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2651760"/>
            <a:ext cx="228600" cy="2286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732020" y="1554480"/>
            <a:ext cx="16916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732020" y="1554480"/>
            <a:ext cx="16916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257800" y="17830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4104" y="1842516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732020" y="2514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4823460" y="2743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823460" y="32461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persona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from hidden states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2651760"/>
            <a:ext cx="228600" cy="22860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743700" y="1554480"/>
            <a:ext cx="16916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6743700" y="1554480"/>
            <a:ext cx="16916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7269480" y="17830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1842516"/>
            <a:ext cx="347472" cy="34747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743700" y="2514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6835140" y="2743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6835140" y="32461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&amp; comparison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708660" y="4297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+ API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4732020" y="4297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6743700" y="4297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+ API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Dataset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031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roles defined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diverse domains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40480" y="91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840480" y="77724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0" y="777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43400" y="7589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Definition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343400" y="10332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 professional roles (lawyer, doctor, engineer, artist, etc.) are catalogued with descriptions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40480" y="173736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8404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343400" y="17190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Pairs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343400" y="19933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generates 5 positive/negative instruction pairs per role that capture the persona's voice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840480" y="269748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84048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343400" y="26791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343400" y="29535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diverse questions per role are generated — scenarios where the role would naturally demonstrate expertise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840480" y="3657600"/>
            <a:ext cx="347472" cy="34747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84048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343400" y="3639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Prompt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343400" y="3913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role-specific evaluation prompt is created for downstream judging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94760" y="4434840"/>
            <a:ext cx="484632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977640" y="44348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dataset per role — instructions, questions, and evaluation criteria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Filtering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task — no GPU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at this stage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40480" y="365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Paired Response Generation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840480" y="914400"/>
            <a:ext cx="22860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840480" y="914400"/>
            <a:ext cx="22860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1430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1143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Role-Prompted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023360" y="1554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</a:t>
            </a: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lawyer.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with authoritative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guidance..."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02336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in-character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each question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0" y="914400"/>
            <a:ext cx="22860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400800" y="914400"/>
            <a:ext cx="2286000" cy="4572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1430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143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583680" y="1554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</a:t>
            </a: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 (empty prompt)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 guidance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58368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 answered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role context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840480" y="3200400"/>
            <a:ext cx="4846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840480" y="3200400"/>
            <a:ext cx="484632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33832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38912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Filtering via LLM Judge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023360" y="37947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responses are scored for role-alignment (0–100).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pairs where both pass the quality threshold are kept.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clean, high-quality training signal for activation extraction.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7C2D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031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task — runs 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weights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40480" y="365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Contrastive Persona Vectors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904488" y="1005840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297680" y="9784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validated Q/A pairs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97680" y="1234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Pre-tokenize all messages for efficiency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14216" y="1691640"/>
            <a:ext cx="0" cy="1828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904488" y="1874520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97680" y="18470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hidden states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29768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activations at a target transformer layer (e.g., layer 14)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014216" y="2560320"/>
            <a:ext cx="0" cy="1828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904488" y="2743200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297680" y="27157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difference vector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297680" y="2971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role_activation − baseline_activation = persona vector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014216" y="3429000"/>
            <a:ext cx="0" cy="1828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904488" y="3611880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297680" y="35844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persona vectors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297680" y="3840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safetensors for efficient loading and steering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840480" y="4160520"/>
            <a:ext cx="484632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023360" y="41605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role-prompted and baseline activations encodes the "direction" of the persona in the model's representation space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64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&amp;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031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prompt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40480" y="365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Multi-Dimensional Judging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840480" y="822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validation question, we generate three responses and compare: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0" y="1280160"/>
            <a:ext cx="14630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840480" y="1307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0" y="1627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prompt context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0" y="1280160"/>
            <a:ext cx="14630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0" y="1307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0" y="1627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vector applied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132320" y="1280160"/>
            <a:ext cx="14630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132320" y="1307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132320" y="16276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axis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84048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Evaluation Dimensions (Likert 1–5)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840480" y="2651760"/>
            <a:ext cx="594360" cy="274320"/>
          </a:xfrm>
          <a:prstGeom prst="rect">
            <a:avLst/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840480" y="2651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7200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Register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040880" y="2697480"/>
            <a:ext cx="182880" cy="18288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360920" y="2697480"/>
            <a:ext cx="182880" cy="18288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680960" y="2697480"/>
            <a:ext cx="182880" cy="18288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001000" y="2697480"/>
            <a:ext cx="182880" cy="182880"/>
          </a:xfrm>
          <a:prstGeom prst="ellipse">
            <a:avLst/>
          </a:prstGeom>
          <a:solidFill>
            <a:srgbClr val="E2E8F0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321040" y="2697480"/>
            <a:ext cx="182880" cy="182880"/>
          </a:xfrm>
          <a:prstGeom prst="ellipse">
            <a:avLst/>
          </a:prstGeom>
          <a:solidFill>
            <a:srgbClr val="E2E8F0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840480" y="3017520"/>
            <a:ext cx="594360" cy="274320"/>
          </a:xfrm>
          <a:prstGeom prst="rect">
            <a:avLst/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840480" y="3017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Choice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040880" y="3063240"/>
            <a:ext cx="182880" cy="18288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360920" y="3063240"/>
            <a:ext cx="182880" cy="18288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7680960" y="3063240"/>
            <a:ext cx="182880" cy="18288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001000" y="3063240"/>
            <a:ext cx="182880" cy="182880"/>
          </a:xfrm>
          <a:prstGeom prst="ellipse">
            <a:avLst/>
          </a:prstGeom>
          <a:solidFill>
            <a:srgbClr val="E2E8F0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321040" y="3063240"/>
            <a:ext cx="182880" cy="182880"/>
          </a:xfrm>
          <a:prstGeom prst="ellipse">
            <a:avLst/>
          </a:prstGeom>
          <a:solidFill>
            <a:srgbClr val="E2E8F0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3840480" y="3383280"/>
            <a:ext cx="594360" cy="274320"/>
          </a:xfrm>
          <a:prstGeom prst="rect">
            <a:avLst/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840480" y="3383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57200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Dynamic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040880" y="3429000"/>
            <a:ext cx="182880" cy="18288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7360920" y="3429000"/>
            <a:ext cx="182880" cy="18288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7680960" y="3429000"/>
            <a:ext cx="182880" cy="18288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001000" y="3429000"/>
            <a:ext cx="182880" cy="182880"/>
          </a:xfrm>
          <a:prstGeom prst="ellipse">
            <a:avLst/>
          </a:prstGeom>
          <a:solidFill>
            <a:srgbClr val="E2E8F0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321040" y="3429000"/>
            <a:ext cx="182880" cy="182880"/>
          </a:xfrm>
          <a:prstGeom prst="ellipse">
            <a:avLst/>
          </a:prstGeom>
          <a:solidFill>
            <a:srgbClr val="E2E8F0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3840480" y="3749040"/>
            <a:ext cx="594360" cy="274320"/>
          </a:xfrm>
          <a:prstGeom prst="rect">
            <a:avLst/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840480" y="3749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57200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7040880" y="3794760"/>
            <a:ext cx="182880" cy="182880"/>
          </a:xfrm>
          <a:prstGeom prst="ellipse">
            <a:avLst/>
          </a:prstGeom>
          <a:solidFill>
            <a:srgbClr val="0891B2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7360920" y="3794760"/>
            <a:ext cx="182880" cy="182880"/>
          </a:xfrm>
          <a:prstGeom prst="ellipse">
            <a:avLst/>
          </a:prstGeom>
          <a:solidFill>
            <a:srgbClr val="0891B2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7680960" y="3794760"/>
            <a:ext cx="182880" cy="182880"/>
          </a:xfrm>
          <a:prstGeom prst="ellipse">
            <a:avLst/>
          </a:prstGeom>
          <a:solidFill>
            <a:srgbClr val="0891B2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8001000" y="3794760"/>
            <a:ext cx="182880" cy="182880"/>
          </a:xfrm>
          <a:prstGeom prst="ellipse">
            <a:avLst/>
          </a:prstGeom>
          <a:solidFill>
            <a:srgbClr val="E2E8F0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8321040" y="3794760"/>
            <a:ext cx="182880" cy="182880"/>
          </a:xfrm>
          <a:prstGeom prst="ellipse">
            <a:avLst/>
          </a:prstGeom>
          <a:solidFill>
            <a:srgbClr val="E2E8F0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3840480" y="4114800"/>
            <a:ext cx="594360" cy="274320"/>
          </a:xfrm>
          <a:prstGeom prst="rect">
            <a:avLst/>
          </a:prstGeom>
          <a:solidFill>
            <a:srgbClr val="0891B2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3840480" y="4114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57200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Worldview Alignment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7040880" y="4160520"/>
            <a:ext cx="182880" cy="182880"/>
          </a:xfrm>
          <a:prstGeom prst="ellipse">
            <a:avLst/>
          </a:prstGeom>
          <a:solidFill>
            <a:srgbClr val="0891B2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7360920" y="4160520"/>
            <a:ext cx="182880" cy="182880"/>
          </a:xfrm>
          <a:prstGeom prst="ellipse">
            <a:avLst/>
          </a:prstGeom>
          <a:solidFill>
            <a:srgbClr val="0891B2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7680960" y="4160520"/>
            <a:ext cx="182880" cy="182880"/>
          </a:xfrm>
          <a:prstGeom prst="ellipse">
            <a:avLst/>
          </a:prstGeom>
          <a:solidFill>
            <a:srgbClr val="0891B2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8001000" y="4160520"/>
            <a:ext cx="182880" cy="182880"/>
          </a:xfrm>
          <a:prstGeom prst="ellipse">
            <a:avLst/>
          </a:prstGeom>
          <a:solidFill>
            <a:srgbClr val="E2E8F0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8321040" y="4160520"/>
            <a:ext cx="182880" cy="182880"/>
          </a:xfrm>
          <a:prstGeom prst="ellipse">
            <a:avLst/>
          </a:prstGeom>
          <a:solidFill>
            <a:srgbClr val="E2E8F0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3840480" y="4434840"/>
            <a:ext cx="484632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4023360" y="4434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Per-role CSV with scores across all dimensions, enabling quantitative comparison of steering effectiveness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LLM-as-Judge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evaluation at two stages of the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Judge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Filtering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role-alignment 0–100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role-specific evaluation prompt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Q/A pairs by threshold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clean training signal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9319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93192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Comparator Judge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1965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Evaluation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23774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Likert scoring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steered vs. baseline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style &amp; content dimensions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batch scoring (50 concurrent)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Backends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4251960"/>
            <a:ext cx="182880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4251960"/>
            <a:ext cx="182880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Server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4251960"/>
            <a:ext cx="182880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HuggingFace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" cy="7315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CPU/GPU Separation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uses remote APIs (no GPU). Extraction runs locally on GPU. Maximizes resource utilization and enables parallel workflows.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Activation Vectors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role-prompted and baseline hidden states encodes the persona direction — a lightweight, composable steering mechanism.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Evaluation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401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scoring via GPT-4 class models, with both per-response scores and multi-dimensional comparisons across style and content axes.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069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Distributed Execution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3616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across roles with Modal distributed computing support. Resumable at every stage — no work is repeated.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600</Words>
  <Application>Microsoft Macintosh PowerPoint</Application>
  <PresentationFormat>On-screen Show (16:9)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Personality Vectors: Role Elicitation Pipeline</dc:title>
  <dc:subject>PptxGenJS Presentation</dc:subject>
  <dc:creator>Personality Vectors Team</dc:creator>
  <cp:lastModifiedBy>Matlin, Glenn S</cp:lastModifiedBy>
  <cp:revision>2</cp:revision>
  <dcterms:created xsi:type="dcterms:W3CDTF">2026-03-27T19:38:48Z</dcterms:created>
  <dcterms:modified xsi:type="dcterms:W3CDTF">2026-03-27T22:29:34Z</dcterms:modified>
</cp:coreProperties>
</file>